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35qF3DZuF5ypKbcb5X45Rmowe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372464-23D9-4ABF-9A36-106F387C0C4E}">
  <a:tblStyle styleId="{23372464-23D9-4ABF-9A36-106F387C0C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Valuation ($B)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 Case</c:v>
                  </c:pt>
                  <c:pt idx="1">
                    <c:v>Base Case</c:v>
                  </c:pt>
                  <c:pt idx="2">
                    <c:v>Bull Case</c:v>
                  </c:pt>
                  <c:pt idx="3">
                    <c:v>IPO Entry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555</c:v>
                </c:pt>
                <c:pt idx="1">
                  <c:v>1240</c:v>
                </c:pt>
                <c:pt idx="2">
                  <c:v>3132</c:v>
                </c:pt>
                <c:pt idx="3">
                  <c:v>1750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Van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Everyone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afe02630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afe02630d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afe02630d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fe02630d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afe02630d_1_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afe02630d_1_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Nancy</a:t>
            </a:r>
            <a:endParaRPr/>
          </a:p>
        </p:txBody>
      </p:sp>
      <p:sp>
        <p:nvSpPr>
          <p:cNvPr id="200" name="Google Shape;2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Aarush</a:t>
            </a:r>
            <a:endParaRPr/>
          </a:p>
        </p:txBody>
      </p:sp>
      <p:sp>
        <p:nvSpPr>
          <p:cNvPr id="293" name="Google Shape;2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Van</a:t>
            </a:r>
            <a:endParaRPr/>
          </a:p>
        </p:txBody>
      </p:sp>
      <p:sp>
        <p:nvSpPr>
          <p:cNvPr id="333" name="Google Shape;3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Rishabh</a:t>
            </a:r>
            <a:endParaRPr/>
          </a:p>
        </p:txBody>
      </p:sp>
      <p:sp>
        <p:nvSpPr>
          <p:cNvPr id="365" name="Google Shape;3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Rachel</a:t>
            </a:r>
            <a:endParaRPr/>
          </a:p>
        </p:txBody>
      </p:sp>
      <p:sp>
        <p:nvSpPr>
          <p:cNvPr id="379" name="Google Shape;3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Rachel</a:t>
            </a:r>
            <a:endParaRPr/>
          </a:p>
        </p:txBody>
      </p:sp>
      <p:sp>
        <p:nvSpPr>
          <p:cNvPr id="441" name="Google Shape;4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Rishabh</a:t>
            </a:r>
            <a:endParaRPr/>
          </a:p>
        </p:txBody>
      </p:sp>
      <p:sp>
        <p:nvSpPr>
          <p:cNvPr id="480" name="Google Shape;4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Nancy</a:t>
            </a:r>
            <a:endParaRPr/>
          </a:p>
        </p:txBody>
      </p:sp>
      <p:sp>
        <p:nvSpPr>
          <p:cNvPr id="506" name="Google Shape;5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9.jpg"/><Relationship Id="rId7" Type="http://schemas.openxmlformats.org/officeDocument/2006/relationships/image" Target="../media/image5.jp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SPACEX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Investment Thesis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224028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457200" y="23774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$15M Pre-IPO Position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Singapore Multi-Family Office  |  $1.2B AUM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520440"/>
            <a:ext cx="1920240" cy="1188720"/>
          </a:xfrm>
          <a:prstGeom prst="rect">
            <a:avLst/>
          </a:prstGeom>
          <a:solidFill>
            <a:srgbClr val="1B2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3566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$1.75T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1605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IPO 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606040" y="3520440"/>
            <a:ext cx="1920240" cy="1188720"/>
          </a:xfrm>
          <a:prstGeom prst="rect">
            <a:avLst/>
          </a:prstGeom>
          <a:solidFill>
            <a:srgbClr val="1B2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606040" y="3566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$16B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06040" y="41605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2025 Revenue (est.)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54880" y="3520440"/>
            <a:ext cx="1920240" cy="1188720"/>
          </a:xfrm>
          <a:prstGeom prst="rect">
            <a:avLst/>
          </a:prstGeom>
          <a:solidFill>
            <a:srgbClr val="1B2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754880" y="3566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51%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54880" y="41605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Global Launch Share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03720" y="3520440"/>
            <a:ext cx="1920240" cy="1188720"/>
          </a:xfrm>
          <a:prstGeom prst="rect">
            <a:avLst/>
          </a:prstGeom>
          <a:solidFill>
            <a:srgbClr val="1B2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903720" y="3566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6M+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41605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Starlink Subscribers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Prepared by</a:t>
            </a: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Kepler-C</a:t>
            </a: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  |  April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Kepler-C Team Introduction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Six </a:t>
            </a:r>
            <a:r>
              <a:rPr b="0" i="0" lang="en-US" sz="13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teammates · 11 slides · full committee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1760125" y="132587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760125" y="1325875"/>
            <a:ext cx="62400" cy="10515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72600" y="141731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Aarush Kothapalli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872600" y="1673347"/>
            <a:ext cx="21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Strategic Moat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872600" y="1892803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Moat scorecard, competitor benchmarking, wide-moat conclusion</a:t>
            </a:r>
            <a:endParaRPr sz="950">
              <a:solidFill>
                <a:srgbClr val="374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60125" y="251459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760125" y="2514595"/>
            <a:ext cx="62400" cy="1051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134597" y="2587747"/>
            <a:ext cx="387300" cy="255900"/>
          </a:xfrm>
          <a:prstGeom prst="roundRect">
            <a:avLst>
              <a:gd fmla="val 14286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22100" y="258774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4,11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872600" y="260603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Nancy Zheng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872600" y="2862067"/>
            <a:ext cx="21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Competitive Landscape &amp;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760125" y="370331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760125" y="3703315"/>
            <a:ext cx="62400" cy="10515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134597" y="3776467"/>
            <a:ext cx="387300" cy="255900"/>
          </a:xfrm>
          <a:prstGeom prst="roundRect">
            <a:avLst>
              <a:gd fmla="val 14286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122100" y="377646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 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7,10</a:t>
            </a:r>
            <a:endParaRPr b="1"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872600" y="379475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Rishabh Gandhi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872600" y="4050775"/>
            <a:ext cx="24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Valuation Methodology &amp; VC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872600" y="4270243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VC Entry Analysis, SpaceX target valuation, Investor Ratings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49223" y="132587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107745" y="1325855"/>
            <a:ext cx="91500" cy="1051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523717" y="1399027"/>
            <a:ext cx="387300" cy="255900"/>
          </a:xfrm>
          <a:prstGeom prst="roundRect">
            <a:avLst>
              <a:gd fmla="val 14286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511219" y="139902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 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61699" y="141731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Keean Kawai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61699" y="1673347"/>
            <a:ext cx="21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Business Overview &amp; Total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61699" y="1892803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Business Overview Walkthrough, Revenue Streams, Market Segments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49223" y="251459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07745" y="2514575"/>
            <a:ext cx="91500" cy="10515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523717" y="2587747"/>
            <a:ext cx="387300" cy="255900"/>
          </a:xfrm>
          <a:prstGeom prst="roundRect">
            <a:avLst>
              <a:gd fmla="val 14286" name="adj"/>
            </a:avLst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511219" y="258774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 8–9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261699" y="260603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Rachel Qiu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261699" y="2862067"/>
            <a:ext cx="21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261699" y="3081523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Risk matrix walkthrough, R1–R8 deep dive, mitigation factors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149223" y="3703315"/>
            <a:ext cx="28119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107745" y="3703295"/>
            <a:ext cx="91500" cy="1051500"/>
          </a:xfrm>
          <a:prstGeom prst="rect">
            <a:avLst/>
          </a:prstGeom>
          <a:solidFill>
            <a:srgbClr val="6B4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8523717" y="3776467"/>
            <a:ext cx="387300" cy="255900"/>
          </a:xfrm>
          <a:prstGeom prst="roundRect">
            <a:avLst>
              <a:gd fmla="val 14286" name="adj"/>
            </a:avLst>
          </a:prstGeom>
          <a:solidFill>
            <a:srgbClr val="6B4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8511219" y="377646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 1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261699" y="3794755"/>
            <a:ext cx="218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Van Jendian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261699" y="4050787"/>
            <a:ext cx="21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8C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48C8"/>
                </a:solidFill>
                <a:latin typeface="Calibri"/>
                <a:ea typeface="Calibri"/>
                <a:cs typeface="Calibri"/>
                <a:sym typeface="Calibri"/>
              </a:rPr>
              <a:t>Introduction &amp; Financial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261699" y="4270243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SpaceX background, </a:t>
            </a: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Revenue model, EV/Revenue comps, and the Scenario Valuation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2" title="Rachel Qiu Phot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25875"/>
            <a:ext cx="1051500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" title="linked in headshot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875" y="1325850"/>
            <a:ext cx="1051500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title="Rachel Qiu Phot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875" y="2514588"/>
            <a:ext cx="1051500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" title="headsho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867" y="3703350"/>
            <a:ext cx="1051500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 title="Gandhi_Rishabh_Photo (1).jpg"/>
          <p:cNvPicPr preferRelativeResize="0"/>
          <p:nvPr/>
        </p:nvPicPr>
        <p:blipFill rotWithShape="1">
          <a:blip r:embed="rId6">
            <a:alphaModFix/>
          </a:blip>
          <a:srcRect b="11345" l="0" r="0" t="22926"/>
          <a:stretch/>
        </p:blipFill>
        <p:spPr>
          <a:xfrm>
            <a:off x="434325" y="3642324"/>
            <a:ext cx="1097250" cy="11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4109675" y="1380800"/>
            <a:ext cx="406200" cy="2742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109675" y="1389947"/>
            <a:ext cx="40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2" title="9b54ca8997ad8a5eb486b904df384f9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4325" y="2484100"/>
            <a:ext cx="1097252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" y="1325875"/>
            <a:ext cx="1051500" cy="10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1872600" y="3099778"/>
            <a:ext cx="237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Competitor benchmarking, entry discipline, $15M structure proposal</a:t>
            </a:r>
            <a:endParaRPr sz="950">
              <a:solidFill>
                <a:srgbClr val="374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fe02630d_1_0"/>
          <p:cNvSpPr/>
          <p:nvPr/>
        </p:nvSpPr>
        <p:spPr>
          <a:xfrm>
            <a:off x="411480" y="16459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afe02630d_1_0"/>
          <p:cNvSpPr/>
          <p:nvPr/>
        </p:nvSpPr>
        <p:spPr>
          <a:xfrm>
            <a:off x="7863840" y="20116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Keean Kawai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afe02630d_1_0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A dual-engine platform: launch services fund the infrastructure; Starlink monetises it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afe02630d_1_0"/>
          <p:cNvSpPr/>
          <p:nvPr/>
        </p:nvSpPr>
        <p:spPr>
          <a:xfrm>
            <a:off x="411480" y="987552"/>
            <a:ext cx="2560320" cy="914400"/>
          </a:xfrm>
          <a:prstGeom prst="rect">
            <a:avLst/>
          </a:prstGeom>
          <a:solidFill>
            <a:srgbClr val="1C2E42"/>
          </a:solidFill>
          <a:ln cap="flat" cmpd="sng" w="19050">
            <a:solidFill>
              <a:srgbClr val="29A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afe02630d_1_0"/>
          <p:cNvSpPr/>
          <p:nvPr/>
        </p:nvSpPr>
        <p:spPr>
          <a:xfrm>
            <a:off x="521208" y="1005840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LAUNCH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afe02630d_1_0"/>
          <p:cNvSpPr/>
          <p:nvPr/>
        </p:nvSpPr>
        <p:spPr>
          <a:xfrm>
            <a:off x="521208" y="1298448"/>
            <a:ext cx="23408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165 launches in 2025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— ~51% of all orbital launches globally. Falcon 9 list price $74M. ~85% US launch share.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g3dafe02630d_1_0"/>
          <p:cNvCxnSpPr/>
          <p:nvPr/>
        </p:nvCxnSpPr>
        <p:spPr>
          <a:xfrm>
            <a:off x="1682496" y="1920240"/>
            <a:ext cx="0" cy="256032"/>
          </a:xfrm>
          <a:prstGeom prst="straightConnector1">
            <a:avLst/>
          </a:prstGeom>
          <a:noFill/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g3dafe02630d_1_0"/>
          <p:cNvSpPr/>
          <p:nvPr/>
        </p:nvSpPr>
        <p:spPr>
          <a:xfrm>
            <a:off x="1527048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afe02630d_1_0"/>
          <p:cNvSpPr/>
          <p:nvPr/>
        </p:nvSpPr>
        <p:spPr>
          <a:xfrm>
            <a:off x="822960" y="2340864"/>
            <a:ext cx="1737360" cy="40233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afe02630d_1_0"/>
          <p:cNvSpPr/>
          <p:nvPr/>
        </p:nvSpPr>
        <p:spPr>
          <a:xfrm>
            <a:off x="822960" y="2340864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CLOSED-LOOP FLYWHEEL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dafe02630d_1_0"/>
          <p:cNvSpPr/>
          <p:nvPr/>
        </p:nvSpPr>
        <p:spPr>
          <a:xfrm>
            <a:off x="1527048" y="27797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afe02630d_1_0"/>
          <p:cNvSpPr/>
          <p:nvPr/>
        </p:nvSpPr>
        <p:spPr>
          <a:xfrm>
            <a:off x="411480" y="2999232"/>
            <a:ext cx="2560320" cy="960120"/>
          </a:xfrm>
          <a:prstGeom prst="rect">
            <a:avLst/>
          </a:prstGeom>
          <a:solidFill>
            <a:srgbClr val="1C2E42"/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afe02630d_1_0"/>
          <p:cNvSpPr/>
          <p:nvPr/>
        </p:nvSpPr>
        <p:spPr>
          <a:xfrm>
            <a:off x="521208" y="3017520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STARLINK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afe02630d_1_0"/>
          <p:cNvSpPr/>
          <p:nvPr/>
        </p:nvSpPr>
        <p:spPr>
          <a:xfrm>
            <a:off x="521208" y="3310128"/>
            <a:ext cx="23408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10M+ subscribers · 150+ countries · 10,020 satellites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$11.4B revenue (2025) · 63% EBITDA margin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dafe02630d_1_0"/>
          <p:cNvSpPr/>
          <p:nvPr/>
        </p:nvSpPr>
        <p:spPr>
          <a:xfrm>
            <a:off x="411480" y="404164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Internal launch demand keeps utilisation high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Launch cost advantage accelerates Starlink 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dafe02630d_1_0"/>
          <p:cNvSpPr/>
          <p:nvPr/>
        </p:nvSpPr>
        <p:spPr>
          <a:xfrm>
            <a:off x="3337560" y="91440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FIVE REVENUE STREAMS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afe02630d_1_0"/>
          <p:cNvSpPr/>
          <p:nvPr/>
        </p:nvSpPr>
        <p:spPr>
          <a:xfrm>
            <a:off x="3337560" y="1207008"/>
            <a:ext cx="5394960" cy="676656"/>
          </a:xfrm>
          <a:prstGeom prst="rect">
            <a:avLst/>
          </a:prstGeom>
          <a:solidFill>
            <a:srgbClr val="1C2E42"/>
          </a:solidFill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afe02630d_1_0"/>
          <p:cNvSpPr/>
          <p:nvPr/>
        </p:nvSpPr>
        <p:spPr>
          <a:xfrm>
            <a:off x="3337560" y="1207008"/>
            <a:ext cx="50292" cy="676656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afe02630d_1_0"/>
          <p:cNvSpPr/>
          <p:nvPr/>
        </p:nvSpPr>
        <p:spPr>
          <a:xfrm>
            <a:off x="3474720" y="125272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Commercial Launch  </a:t>
            </a:r>
            <a:r>
              <a:rPr b="1" i="0" lang="en-US" sz="10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$74M / flight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afe02630d_1_0"/>
          <p:cNvSpPr/>
          <p:nvPr/>
        </p:nvSpPr>
        <p:spPr>
          <a:xfrm>
            <a:off x="3474720" y="1499616"/>
            <a:ext cx="5166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165 Falcon 9 launches in 2025. Reusable boosters drive ~77% est. gross margin. F9 booster B1067: 34 flights.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afe02630d_1_0"/>
          <p:cNvSpPr/>
          <p:nvPr/>
        </p:nvSpPr>
        <p:spPr>
          <a:xfrm>
            <a:off x="3337560" y="1938528"/>
            <a:ext cx="5394960" cy="676656"/>
          </a:xfrm>
          <a:prstGeom prst="rect">
            <a:avLst/>
          </a:prstGeom>
          <a:solidFill>
            <a:srgbClr val="1C2E42"/>
          </a:solidFill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afe02630d_1_0"/>
          <p:cNvSpPr/>
          <p:nvPr/>
        </p:nvSpPr>
        <p:spPr>
          <a:xfrm>
            <a:off x="3337560" y="1938528"/>
            <a:ext cx="50292" cy="67665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afe02630d_1_0"/>
          <p:cNvSpPr/>
          <p:nvPr/>
        </p:nvSpPr>
        <p:spPr>
          <a:xfrm>
            <a:off x="3474720" y="198424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Starlink Consumer &amp; Enterprise  </a:t>
            </a: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$11.4B (2025)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afe02630d_1_0"/>
          <p:cNvSpPr/>
          <p:nvPr/>
        </p:nvSpPr>
        <p:spPr>
          <a:xfrm>
            <a:off x="3474720" y="2231136"/>
            <a:ext cx="5166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10M+ subs @ ~$120/mo (US) to ~$30/mo (emerging markets). YoY growth: +50%. 1M new subs in 53 days (Dec 2025–Feb 2026).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afe02630d_1_0"/>
          <p:cNvSpPr/>
          <p:nvPr/>
        </p:nvSpPr>
        <p:spPr>
          <a:xfrm>
            <a:off x="3337560" y="2670048"/>
            <a:ext cx="5394960" cy="676656"/>
          </a:xfrm>
          <a:prstGeom prst="rect">
            <a:avLst/>
          </a:prstGeom>
          <a:solidFill>
            <a:srgbClr val="1C2E42"/>
          </a:solidFill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afe02630d_1_0"/>
          <p:cNvSpPr/>
          <p:nvPr/>
        </p:nvSpPr>
        <p:spPr>
          <a:xfrm>
            <a:off x="3337560" y="2670048"/>
            <a:ext cx="50292" cy="67665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afe02630d_1_0"/>
          <p:cNvSpPr/>
          <p:nvPr/>
        </p:nvSpPr>
        <p:spPr>
          <a:xfrm>
            <a:off x="3474720" y="271576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Mobility (Aviation &amp; Maritime)  </a:t>
            </a:r>
            <a:r>
              <a:rPr b="1" i="0" lang="en-US" sz="10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$1.94B est. Maritime alone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afe02630d_1_0"/>
          <p:cNvSpPr/>
          <p:nvPr/>
        </p:nvSpPr>
        <p:spPr>
          <a:xfrm>
            <a:off x="3474720" y="2962656"/>
            <a:ext cx="5166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2,500+ aircraft under contract: United, Lufthansa, Southwest, Hawaiian, Air Canada. Royal Caribbean fleetwide. ARPU: $5K–$34K/mo (maritime).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afe02630d_1_0"/>
          <p:cNvSpPr/>
          <p:nvPr/>
        </p:nvSpPr>
        <p:spPr>
          <a:xfrm>
            <a:off x="3337560" y="3401568"/>
            <a:ext cx="5394960" cy="676656"/>
          </a:xfrm>
          <a:prstGeom prst="rect">
            <a:avLst/>
          </a:prstGeom>
          <a:solidFill>
            <a:srgbClr val="1C2E42"/>
          </a:solidFill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afe02630d_1_0"/>
          <p:cNvSpPr/>
          <p:nvPr/>
        </p:nvSpPr>
        <p:spPr>
          <a:xfrm>
            <a:off x="3337560" y="3401568"/>
            <a:ext cx="50292" cy="67665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afe02630d_1_0"/>
          <p:cNvSpPr/>
          <p:nvPr/>
        </p:nvSpPr>
        <p:spPr>
          <a:xfrm>
            <a:off x="3474720" y="344728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 Security (Starshield)  </a:t>
            </a: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~$3.2B est. by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afe02630d_1_0"/>
          <p:cNvSpPr/>
          <p:nvPr/>
        </p:nvSpPr>
        <p:spPr>
          <a:xfrm>
            <a:off x="3474720" y="3694176"/>
            <a:ext cx="5166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NRO $1.8B classified contract · NSSL Ph.3 Lane 2 $5.9B ceiling · pLEO IDIQ $13B ceiling · 97% of USSF task orders awarded.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dafe02630d_1_0"/>
          <p:cNvSpPr/>
          <p:nvPr/>
        </p:nvSpPr>
        <p:spPr>
          <a:xfrm>
            <a:off x="3337560" y="4133088"/>
            <a:ext cx="5394960" cy="676656"/>
          </a:xfrm>
          <a:prstGeom prst="rect">
            <a:avLst/>
          </a:prstGeom>
          <a:solidFill>
            <a:srgbClr val="1C2E42"/>
          </a:solidFill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afe02630d_1_0"/>
          <p:cNvSpPr/>
          <p:nvPr/>
        </p:nvSpPr>
        <p:spPr>
          <a:xfrm>
            <a:off x="3337560" y="4133088"/>
            <a:ext cx="50292" cy="67665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afe02630d_1_0"/>
          <p:cNvSpPr/>
          <p:nvPr/>
        </p:nvSpPr>
        <p:spPr>
          <a:xfrm>
            <a:off x="3474720" y="417880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Civil Space (NASA)  </a:t>
            </a:r>
            <a:r>
              <a:rPr b="1" i="0" lang="en-US" sz="10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~$1.1B / yr 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afe02630d_1_0"/>
          <p:cNvSpPr/>
          <p:nvPr/>
        </p:nvSpPr>
        <p:spPr>
          <a:xfrm>
            <a:off x="3474720" y="4425696"/>
            <a:ext cx="5166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Commercial Crew: $4.93B / 14 ISS missions through 2030. HLS (Artemis III/IV): $4.5B total. Dragon Cargo (CRS-2).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afe02630d_1_0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Revenue est. from Reuters (Jan 2026), The Information (Apr 2025), Quilty Space · SpaceX is private; figures not audited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afe02630d_1_42"/>
          <p:cNvSpPr/>
          <p:nvPr/>
        </p:nvSpPr>
        <p:spPr>
          <a:xfrm>
            <a:off x="411480" y="164592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Total Addressable Market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dafe02630d_1_42"/>
          <p:cNvSpPr/>
          <p:nvPr/>
        </p:nvSpPr>
        <p:spPr>
          <a:xfrm>
            <a:off x="7863840" y="20116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Keean Kawai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afe02630d_1_42"/>
          <p:cNvSpPr/>
          <p:nvPr/>
        </p:nvSpPr>
        <p:spPr>
          <a:xfrm>
            <a:off x="411480" y="60350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SpaceX participates in four verified segments — combined $100B+ addressable market by 2030, growing toward $1T+ total space economy by 2032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afe02630d_1_42"/>
          <p:cNvSpPr/>
          <p:nvPr/>
        </p:nvSpPr>
        <p:spPr>
          <a:xfrm>
            <a:off x="411480" y="960120"/>
            <a:ext cx="202996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afe02630d_1_42"/>
          <p:cNvSpPr/>
          <p:nvPr/>
        </p:nvSpPr>
        <p:spPr>
          <a:xfrm>
            <a:off x="411480" y="960120"/>
            <a:ext cx="2029968" cy="50292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afe02630d_1_42"/>
          <p:cNvSpPr/>
          <p:nvPr/>
        </p:nvSpPr>
        <p:spPr>
          <a:xfrm>
            <a:off x="539496" y="1051560"/>
            <a:ext cx="384048" cy="201168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afe02630d_1_42"/>
          <p:cNvSpPr/>
          <p:nvPr/>
        </p:nvSpPr>
        <p:spPr>
          <a:xfrm>
            <a:off x="539496" y="105156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afe02630d_1_42"/>
          <p:cNvSpPr/>
          <p:nvPr/>
        </p:nvSpPr>
        <p:spPr>
          <a:xfrm>
            <a:off x="978408" y="10515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Satellite Broadband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afe02630d_1_42"/>
          <p:cNvSpPr/>
          <p:nvPr/>
        </p:nvSpPr>
        <p:spPr>
          <a:xfrm>
            <a:off x="539496" y="1362456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$33.4B by 2030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afe02630d_1_42"/>
          <p:cNvSpPr/>
          <p:nvPr/>
        </p:nvSpPr>
        <p:spPr>
          <a:xfrm>
            <a:off x="539496" y="1682496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18.1% CAGR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g3dafe02630d_1_42"/>
          <p:cNvCxnSpPr/>
          <p:nvPr/>
        </p:nvCxnSpPr>
        <p:spPr>
          <a:xfrm>
            <a:off x="539496" y="1920240"/>
            <a:ext cx="1773936" cy="0"/>
          </a:xfrm>
          <a:prstGeom prst="straightConnector1">
            <a:avLst/>
          </a:prstGeom>
          <a:noFill/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dafe02630d_1_42"/>
          <p:cNvSpPr/>
          <p:nvPr/>
        </p:nvSpPr>
        <p:spPr>
          <a:xfrm>
            <a:off x="539496" y="1965960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SpaceX Position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afe02630d_1_42"/>
          <p:cNvSpPr/>
          <p:nvPr/>
        </p:nvSpPr>
        <p:spPr>
          <a:xfrm>
            <a:off x="539496" y="2148840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Dominant LEO position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~65% of all active sats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afe02630d_1_42"/>
          <p:cNvSpPr/>
          <p:nvPr/>
        </p:nvSpPr>
        <p:spPr>
          <a:xfrm>
            <a:off x="539496" y="2532888"/>
            <a:ext cx="1773936" cy="5486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afe02630d_1_42"/>
          <p:cNvSpPr/>
          <p:nvPr/>
        </p:nvSpPr>
        <p:spPr>
          <a:xfrm>
            <a:off x="576072" y="2560320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Was incorrectly shown as $1.6T — corrected to $14.6B (2025) → $33.4B (2030)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afe02630d_1_42"/>
          <p:cNvSpPr/>
          <p:nvPr/>
        </p:nvSpPr>
        <p:spPr>
          <a:xfrm>
            <a:off x="2532888" y="960120"/>
            <a:ext cx="202996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afe02630d_1_42"/>
          <p:cNvSpPr/>
          <p:nvPr/>
        </p:nvSpPr>
        <p:spPr>
          <a:xfrm>
            <a:off x="2532888" y="960120"/>
            <a:ext cx="2029968" cy="5029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afe02630d_1_42"/>
          <p:cNvSpPr/>
          <p:nvPr/>
        </p:nvSpPr>
        <p:spPr>
          <a:xfrm>
            <a:off x="2660904" y="1051560"/>
            <a:ext cx="384048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afe02630d_1_42"/>
          <p:cNvSpPr/>
          <p:nvPr/>
        </p:nvSpPr>
        <p:spPr>
          <a:xfrm>
            <a:off x="2660904" y="105156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LCH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afe02630d_1_42"/>
          <p:cNvSpPr/>
          <p:nvPr/>
        </p:nvSpPr>
        <p:spPr>
          <a:xfrm>
            <a:off x="3099816" y="10515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Commercial Launch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afe02630d_1_42"/>
          <p:cNvSpPr/>
          <p:nvPr/>
        </p:nvSpPr>
        <p:spPr>
          <a:xfrm>
            <a:off x="2660904" y="1362456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$41.3B by 2030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afe02630d_1_42"/>
          <p:cNvSpPr/>
          <p:nvPr/>
        </p:nvSpPr>
        <p:spPr>
          <a:xfrm>
            <a:off x="2660904" y="1682496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14.6% CAGR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dafe02630d_1_42"/>
          <p:cNvCxnSpPr/>
          <p:nvPr/>
        </p:nvCxnSpPr>
        <p:spPr>
          <a:xfrm>
            <a:off x="2660904" y="1920240"/>
            <a:ext cx="1773936" cy="0"/>
          </a:xfrm>
          <a:prstGeom prst="straightConnector1">
            <a:avLst/>
          </a:prstGeom>
          <a:noFill/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g3dafe02630d_1_42"/>
          <p:cNvSpPr/>
          <p:nvPr/>
        </p:nvSpPr>
        <p:spPr>
          <a:xfrm>
            <a:off x="2660904" y="1965960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SpaceX Position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afe02630d_1_42"/>
          <p:cNvSpPr/>
          <p:nvPr/>
        </p:nvSpPr>
        <p:spPr>
          <a:xfrm>
            <a:off x="2660904" y="2148840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&gt;60% global share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~85% of US launches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afe02630d_1_42"/>
          <p:cNvSpPr/>
          <p:nvPr/>
        </p:nvSpPr>
        <p:spPr>
          <a:xfrm>
            <a:off x="2660904" y="2990088"/>
            <a:ext cx="1773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Source: Grand View Research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afe02630d_1_42"/>
          <p:cNvSpPr/>
          <p:nvPr/>
        </p:nvSpPr>
        <p:spPr>
          <a:xfrm>
            <a:off x="4654296" y="960120"/>
            <a:ext cx="202996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afe02630d_1_42"/>
          <p:cNvSpPr/>
          <p:nvPr/>
        </p:nvSpPr>
        <p:spPr>
          <a:xfrm>
            <a:off x="4654296" y="960120"/>
            <a:ext cx="2029968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afe02630d_1_42"/>
          <p:cNvSpPr/>
          <p:nvPr/>
        </p:nvSpPr>
        <p:spPr>
          <a:xfrm>
            <a:off x="4782312" y="1051560"/>
            <a:ext cx="384048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afe02630d_1_42"/>
          <p:cNvSpPr/>
          <p:nvPr/>
        </p:nvSpPr>
        <p:spPr>
          <a:xfrm>
            <a:off x="4782312" y="105156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afe02630d_1_42"/>
          <p:cNvSpPr/>
          <p:nvPr/>
        </p:nvSpPr>
        <p:spPr>
          <a:xfrm>
            <a:off x="5221224" y="10515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National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dafe02630d_1_42"/>
          <p:cNvSpPr/>
          <p:nvPr/>
        </p:nvSpPr>
        <p:spPr>
          <a:xfrm>
            <a:off x="4782312" y="1362456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$5.9B NSSL ceiling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afe02630d_1_42"/>
          <p:cNvSpPr/>
          <p:nvPr/>
        </p:nvSpPr>
        <p:spPr>
          <a:xfrm>
            <a:off x="4782312" y="1682496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Contracted FY25–29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g3dafe02630d_1_42"/>
          <p:cNvCxnSpPr/>
          <p:nvPr/>
        </p:nvCxnSpPr>
        <p:spPr>
          <a:xfrm>
            <a:off x="4782312" y="1920240"/>
            <a:ext cx="1773936" cy="0"/>
          </a:xfrm>
          <a:prstGeom prst="straightConnector1">
            <a:avLst/>
          </a:prstGeom>
          <a:noFill/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dafe02630d_1_42"/>
          <p:cNvSpPr/>
          <p:nvPr/>
        </p:nvSpPr>
        <p:spPr>
          <a:xfrm>
            <a:off x="4782312" y="1965960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SpaceX Position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afe02630d_1_42"/>
          <p:cNvSpPr/>
          <p:nvPr/>
        </p:nvSpPr>
        <p:spPr>
          <a:xfrm>
            <a:off x="4782312" y="2148840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97% of USSF task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Starshield ~$3.2B est.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afe02630d_1_42"/>
          <p:cNvSpPr/>
          <p:nvPr/>
        </p:nvSpPr>
        <p:spPr>
          <a:xfrm>
            <a:off x="4782312" y="2532888"/>
            <a:ext cx="1773936" cy="5486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afe02630d_1_42"/>
          <p:cNvSpPr/>
          <p:nvPr/>
        </p:nvSpPr>
        <p:spPr>
          <a:xfrm>
            <a:off x="4818888" y="2560320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Corrected from $13.5B total pool → $5.9B is SpaceX-specific ceiling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afe02630d_1_42"/>
          <p:cNvSpPr/>
          <p:nvPr/>
        </p:nvSpPr>
        <p:spPr>
          <a:xfrm>
            <a:off x="6775704" y="960120"/>
            <a:ext cx="202996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afe02630d_1_42"/>
          <p:cNvSpPr/>
          <p:nvPr/>
        </p:nvSpPr>
        <p:spPr>
          <a:xfrm>
            <a:off x="6775704" y="960120"/>
            <a:ext cx="2029968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afe02630d_1_42"/>
          <p:cNvSpPr/>
          <p:nvPr/>
        </p:nvSpPr>
        <p:spPr>
          <a:xfrm>
            <a:off x="6903720" y="1051560"/>
            <a:ext cx="384048" cy="2011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afe02630d_1_42"/>
          <p:cNvSpPr/>
          <p:nvPr/>
        </p:nvSpPr>
        <p:spPr>
          <a:xfrm>
            <a:off x="6903720" y="105156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DTC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afe02630d_1_42"/>
          <p:cNvSpPr/>
          <p:nvPr/>
        </p:nvSpPr>
        <p:spPr>
          <a:xfrm>
            <a:off x="7342632" y="10515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Direct-to-Cell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afe02630d_1_42"/>
          <p:cNvSpPr/>
          <p:nvPr/>
        </p:nvSpPr>
        <p:spPr>
          <a:xfrm>
            <a:off x="6903720" y="1362456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$43.3B by 2034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afe02630d_1_42"/>
          <p:cNvSpPr/>
          <p:nvPr/>
        </p:nvSpPr>
        <p:spPr>
          <a:xfrm>
            <a:off x="6903720" y="1682496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32.7% CAGR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g3dafe02630d_1_42"/>
          <p:cNvCxnSpPr/>
          <p:nvPr/>
        </p:nvCxnSpPr>
        <p:spPr>
          <a:xfrm>
            <a:off x="6903720" y="1920240"/>
            <a:ext cx="1773936" cy="0"/>
          </a:xfrm>
          <a:prstGeom prst="straightConnector1">
            <a:avLst/>
          </a:prstGeom>
          <a:noFill/>
          <a:ln cap="flat" cmpd="sng" w="9525">
            <a:solidFill>
              <a:srgbClr val="D0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g3dafe02630d_1_42"/>
          <p:cNvSpPr/>
          <p:nvPr/>
        </p:nvSpPr>
        <p:spPr>
          <a:xfrm>
            <a:off x="6903720" y="1965960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SpaceX Position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afe02630d_1_42"/>
          <p:cNvSpPr/>
          <p:nvPr/>
        </p:nvSpPr>
        <p:spPr>
          <a:xfrm>
            <a:off x="6903720" y="2148840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650+ DTC satellites 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T-Mobile, KDDI, Optus…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afe02630d_1_42"/>
          <p:cNvSpPr/>
          <p:nvPr/>
        </p:nvSpPr>
        <p:spPr>
          <a:xfrm>
            <a:off x="6903720" y="2532888"/>
            <a:ext cx="1773936" cy="548640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afe02630d_1_42"/>
          <p:cNvSpPr/>
          <p:nvPr/>
        </p:nvSpPr>
        <p:spPr>
          <a:xfrm>
            <a:off x="6940296" y="2560320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Still pre-scale revenue in 2025–26; treat as embedded option within Starlink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dafe02630d_1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310128"/>
            <a:ext cx="50292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dafe02630d_1_42"/>
          <p:cNvSpPr/>
          <p:nvPr/>
        </p:nvSpPr>
        <p:spPr>
          <a:xfrm>
            <a:off x="5623560" y="3310128"/>
            <a:ext cx="3474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afe02630d_1_42"/>
          <p:cNvSpPr/>
          <p:nvPr/>
        </p:nvSpPr>
        <p:spPr>
          <a:xfrm>
            <a:off x="5760720" y="34015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MACRO BACKDROP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dafe02630d_1_42"/>
          <p:cNvSpPr/>
          <p:nvPr/>
        </p:nvSpPr>
        <p:spPr>
          <a:xfrm>
            <a:off x="5760720" y="362102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ABE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9ABE2"/>
                </a:solidFill>
                <a:latin typeface="Calibri"/>
                <a:ea typeface="Calibri"/>
                <a:cs typeface="Calibri"/>
                <a:sym typeface="Calibri"/>
              </a:rPr>
              <a:t>$613B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afe02630d_1_42"/>
          <p:cNvSpPr/>
          <p:nvPr/>
        </p:nvSpPr>
        <p:spPr>
          <a:xfrm>
            <a:off x="5760720" y="404164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Global space economy in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+7.8% YoY · 78% commercial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dafe02630d_1_42"/>
          <p:cNvCxnSpPr/>
          <p:nvPr/>
        </p:nvCxnSpPr>
        <p:spPr>
          <a:xfrm>
            <a:off x="7406640" y="3401568"/>
            <a:ext cx="0" cy="1371600"/>
          </a:xfrm>
          <a:prstGeom prst="straightConnector1">
            <a:avLst/>
          </a:prstGeom>
          <a:noFill/>
          <a:ln cap="flat" cmpd="sng" w="9525">
            <a:solidFill>
              <a:srgbClr val="2535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dafe02630d_1_42"/>
          <p:cNvSpPr/>
          <p:nvPr/>
        </p:nvSpPr>
        <p:spPr>
          <a:xfrm>
            <a:off x="7498080" y="36210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$1T+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afe02630d_1_42"/>
          <p:cNvSpPr/>
          <p:nvPr/>
        </p:nvSpPr>
        <p:spPr>
          <a:xfrm>
            <a:off x="7498080" y="4041648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Projected by 2032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(Space Foundation)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afe02630d_1_42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Sources: MarketsandMarkets · Grand View Research · Allied Market Research · Space Foundation Q2 2025 · US Space Force / Quilty Space · Morgan Stanley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Competitive Landscape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7589520" y="16459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Nancy Zheng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65760" y="777240"/>
            <a:ext cx="141732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411480" y="77724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783080" y="777240"/>
            <a:ext cx="141732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1828800" y="77724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200400" y="777240"/>
            <a:ext cx="118872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3246120" y="777240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Share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4389120" y="777240"/>
            <a:ext cx="137160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4434840" y="777240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Constellation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760720" y="777240"/>
            <a:ext cx="128016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806440" y="77724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(est.)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7040880" y="777240"/>
            <a:ext cx="1965960" cy="56692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7086600" y="777240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Threat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65760" y="1344168"/>
            <a:ext cx="141732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411480" y="134416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SpaceX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1783080" y="1344168"/>
            <a:ext cx="141732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1828800" y="134416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Integrated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3200400" y="1344168"/>
            <a:ext cx="118872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3246120" y="1344168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~51% global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389120" y="1344168"/>
            <a:ext cx="137160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4434840" y="1344168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7,800+ sats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760720" y="1344168"/>
            <a:ext cx="128016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806440" y="134416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$15–16B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7040880" y="1344168"/>
            <a:ext cx="1965960" cy="56692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7086600" y="1344168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365760" y="1911096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411480" y="1911096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Amazon Kuiper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1783080" y="1911096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1828800" y="1911096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LEO Broadband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3200400" y="1911096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3246120" y="1911096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Minimal (own)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389120" y="1911096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4434840" y="1911096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200+ sats (2026)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5760720" y="1911096"/>
            <a:ext cx="1280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5806440" y="191109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Parent $638B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7040880" y="1911096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7086600" y="1911096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Cloud + enterprise bundle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365760" y="2478024"/>
            <a:ext cx="14173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411480" y="2478024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ULA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1783080" y="2478024"/>
            <a:ext cx="14173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1828800" y="2478024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Gov't Launch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3200400" y="2478024"/>
            <a:ext cx="11887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3246120" y="2478024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~20% NSSL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4389120" y="2478024"/>
            <a:ext cx="137160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4434840" y="2478024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5760720" y="2478024"/>
            <a:ext cx="128016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5806440" y="2478024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n.d.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7040880" y="2478024"/>
            <a:ext cx="196596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7086600" y="2478024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Mission-assurance niches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365760" y="304495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411480" y="3044952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Blue Origin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1783080" y="304495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1828800" y="3044952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Heavy Lift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3200400" y="3044952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3246120" y="3044952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Nascent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4389120" y="3044952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4434840" y="3044952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5760720" y="3044952"/>
            <a:ext cx="1280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5806440" y="3044952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n.d.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7040880" y="3044952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7086600" y="3044952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New Glenn heavy-lift optionality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365760" y="3611880"/>
            <a:ext cx="14173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411480" y="361188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Rocket Lab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1783080" y="3611880"/>
            <a:ext cx="14173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1828800" y="361188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Small Launch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3200400" y="3611880"/>
            <a:ext cx="118872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3246120" y="3611880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~3%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4389120" y="3611880"/>
            <a:ext cx="137160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4434840" y="3611880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Systems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5760720" y="3611880"/>
            <a:ext cx="128016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5806440" y="361188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$602M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040880" y="3611880"/>
            <a:ext cx="1965960" cy="566928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7086600" y="3611880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Emerging sub-scale challenger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365760" y="4178808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411480" y="417880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Eutelsat / OneWeb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783080" y="4178808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1828800" y="417880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Sovereign LEO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3200400" y="4178808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3246120" y="4178808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Minimal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4389120" y="4178808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4434840" y="4178808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648 sats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5760720" y="4178808"/>
            <a:ext cx="1280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5806440" y="417880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~€1.6B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7040880" y="4178808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7086600" y="4178808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8"/>
                </a:solidFill>
                <a:latin typeface="Calibri"/>
                <a:ea typeface="Calibri"/>
                <a:cs typeface="Calibri"/>
                <a:sym typeface="Calibri"/>
              </a:rPr>
              <a:t>Government / sovereign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n.d. = not disclosed  |  No rival matches SpaceX on combined launch cadence + monetized LEO network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Strategic Moat Evaluation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Overall Rating: WIDE — strongest where launch, satellites &amp; network reinforce each other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7772400" y="274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Aarush Kothapalli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457200" y="1234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Cost Leadership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2651760" y="130759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2651760" y="1307592"/>
            <a:ext cx="4526280" cy="182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7818120" y="126187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7818120" y="126187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457200" y="1828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Vertical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2651760" y="190195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2651760" y="1901952"/>
            <a:ext cx="4425696" cy="182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7818120" y="185623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"/>
          <p:cNvSpPr/>
          <p:nvPr/>
        </p:nvSpPr>
        <p:spPr>
          <a:xfrm>
            <a:off x="7818120" y="185623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457200" y="2423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Network Effects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2651760" y="249631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2651760" y="2496312"/>
            <a:ext cx="4023360" cy="182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7818120" y="245059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"/>
          <p:cNvSpPr/>
          <p:nvPr/>
        </p:nvSpPr>
        <p:spPr>
          <a:xfrm>
            <a:off x="7818120" y="245059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457200" y="30175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Learning &amp;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2651760" y="309067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2651760" y="3090672"/>
            <a:ext cx="4274820" cy="182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"/>
          <p:cNvSpPr/>
          <p:nvPr/>
        </p:nvSpPr>
        <p:spPr>
          <a:xfrm>
            <a:off x="7818120" y="304495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7818120" y="304495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Regulatory Resilience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2651760" y="368503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2651760" y="3685032"/>
            <a:ext cx="191109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7818120" y="363931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7818120" y="363931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457200" y="42062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2651760" y="4279392"/>
            <a:ext cx="5029200" cy="182880"/>
          </a:xfrm>
          <a:prstGeom prst="rect">
            <a:avLst/>
          </a:prstGeom>
          <a:solidFill>
            <a:srgbClr val="1F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2651760" y="4279392"/>
            <a:ext cx="1005840" cy="18288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"/>
          <p:cNvSpPr/>
          <p:nvPr/>
        </p:nvSpPr>
        <p:spPr>
          <a:xfrm>
            <a:off x="7818120" y="4233672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7818120" y="423367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5"/>
          <p:cNvCxnSpPr/>
          <p:nvPr/>
        </p:nvCxnSpPr>
        <p:spPr>
          <a:xfrm>
            <a:off x="457200" y="46634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8FA3B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9" name="Google Shape;329;p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Primary discount factor: governance &amp; regulatory resilience significantly lag economic moat 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Financial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589520" y="16459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Van Jendian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365760" y="77724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365760" y="777240"/>
            <a:ext cx="1554480" cy="6400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365760" y="868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E86DE"/>
                </a:solidFill>
                <a:latin typeface="Arial Black"/>
                <a:ea typeface="Arial Black"/>
                <a:cs typeface="Arial Black"/>
                <a:sym typeface="Arial Black"/>
              </a:rPr>
              <a:t>$15–16B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365760" y="13533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2025 Revenue (est.)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2057400" y="77724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2057400" y="777240"/>
            <a:ext cx="1554480" cy="6400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2057400" y="868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E86DE"/>
                </a:solidFill>
                <a:latin typeface="Arial Black"/>
                <a:ea typeface="Arial Black"/>
                <a:cs typeface="Arial Black"/>
                <a:sym typeface="Arial Black"/>
              </a:rPr>
              <a:t>$8B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057400" y="13533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EBITDA (est.)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3749040" y="77724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"/>
          <p:cNvSpPr/>
          <p:nvPr/>
        </p:nvSpPr>
        <p:spPr>
          <a:xfrm>
            <a:off x="3749040" y="777240"/>
            <a:ext cx="1554480" cy="6400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3749040" y="868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E86DE"/>
                </a:solidFill>
                <a:latin typeface="Arial Black"/>
                <a:ea typeface="Arial Black"/>
                <a:cs typeface="Arial Black"/>
                <a:sym typeface="Arial Black"/>
              </a:rPr>
              <a:t>~50%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3749040" y="13533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5440680" y="77724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5440680" y="777240"/>
            <a:ext cx="1554480" cy="6400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5440680" y="868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E86DE"/>
                </a:solidFill>
                <a:latin typeface="Arial Black"/>
                <a:ea typeface="Arial Black"/>
                <a:cs typeface="Arial Black"/>
                <a:sym typeface="Arial Black"/>
              </a:rPr>
              <a:t>$11.4B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5440680" y="13533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Starlink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7132320" y="77724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"/>
          <p:cNvSpPr/>
          <p:nvPr/>
        </p:nvSpPr>
        <p:spPr>
          <a:xfrm>
            <a:off x="7132320" y="777240"/>
            <a:ext cx="1554480" cy="6400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"/>
          <p:cNvSpPr/>
          <p:nvPr/>
        </p:nvSpPr>
        <p:spPr>
          <a:xfrm>
            <a:off x="7132320" y="868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E86DE"/>
                </a:solidFill>
                <a:latin typeface="Arial Black"/>
                <a:ea typeface="Arial Black"/>
                <a:cs typeface="Arial Black"/>
                <a:sym typeface="Arial Black"/>
              </a:rPr>
              <a:t>63%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7132320" y="13533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Starlink EBITDA Mg.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320047" y="260227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EV / Revenue Comparables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5942424" y="1866243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Scenario Valuation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" name="Google Shape;360;p6"/>
          <p:cNvGraphicFramePr/>
          <p:nvPr/>
        </p:nvGraphicFramePr>
        <p:xfrm>
          <a:off x="5852050" y="2299676"/>
          <a:ext cx="2926200" cy="2011800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361" name="Google Shape;36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038" y="2976375"/>
            <a:ext cx="5414269" cy="6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Valuation Methodology &amp; VC Entry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7589520" y="16459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Rishabh Gandhi</a:t>
            </a:r>
            <a:endParaRPr b="1" sz="800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59950" y="997328"/>
            <a:ext cx="3383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Valuation Framework</a:t>
            </a:r>
            <a:endParaRPr b="1" sz="1300">
              <a:solidFill>
                <a:srgbClr val="1A2B3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Starlink revenue = Subscribers × ARPU × 12</a:t>
            </a:r>
            <a:endParaRPr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Launch = stable secondary revenue stream</a:t>
            </a:r>
            <a:endParaRPr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Scenario-based EV/Revenue (25x - 60x) applied</a:t>
            </a:r>
            <a:endParaRPr b="1" sz="1200">
              <a:solidFill>
                <a:srgbClr val="1A2B3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IPO entry of $1.75T exceeds all fair-entry thresholds — lower implied multiples produce higher investor returns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7"/>
          <p:cNvGraphicFramePr/>
          <p:nvPr/>
        </p:nvGraphicFramePr>
        <p:xfrm>
          <a:off x="3243700" y="376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{23372464-23D9-4ABF-9A36-106F387C0C4E}</a:tableStyleId>
              </a:tblPr>
              <a:tblGrid>
                <a:gridCol w="695325"/>
                <a:gridCol w="1181100"/>
                <a:gridCol w="1171575"/>
                <a:gridCol w="1390650"/>
                <a:gridCol w="13525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  <a:extLst>
                      <a:ext uri="http://customooxmlschemas.google.com/">
                        <go:slidesCustomData xmlns:go="http://customooxmlschemas.google.com/" cellId="37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Exit Valuation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  <a:extLst>
                      <a:ext uri="http://customooxmlschemas.google.com/">
                        <go:slidesCustomData xmlns:go="http://customooxmlschemas.google.com/" cellId="37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Return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  <a:extLst>
                      <a:ext uri="http://customooxmlschemas.google.com/">
                        <go:slidesCustomData xmlns:go="http://customooxmlschemas.google.com/" cellId="37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Implied Fair Entry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  <a:extLst>
                      <a:ext uri="http://customooxmlschemas.google.com/">
                        <go:slidesCustomData xmlns:go="http://customooxmlschemas.google.com/" cellId="37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 @ $1.75T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  <a:extLst>
                      <a:ext uri="http://customooxmlschemas.google.com/">
                        <go:slidesCustomData xmlns:go="http://customooxmlschemas.google.com/" cellId="372: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$555B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1.5x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$370B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0.32x (loss)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1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  <a:extLst>
                      <a:ext uri="http://customooxmlschemas.google.com/">
                        <go:slidesCustomData xmlns:go="http://customooxmlschemas.google.com/" cellId="37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$1.24T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  <a:extLst>
                      <a:ext uri="http://customooxmlschemas.google.com/">
                        <go:slidesCustomData xmlns:go="http://customooxmlschemas.google.com/" cellId="37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2.0x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  <a:extLst>
                      <a:ext uri="http://customooxmlschemas.google.com/">
                        <go:slidesCustomData xmlns:go="http://customooxmlschemas.google.com/" cellId="37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$620B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  <a:extLst>
                      <a:ext uri="http://customooxmlschemas.google.com/">
                        <go:slidesCustomData xmlns:go="http://customooxmlschemas.google.com/" cellId="37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0.71x (loss)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  <a:extLst>
                      <a:ext uri="http://customooxmlschemas.google.com/">
                        <go:slidesCustomData xmlns:go="http://customooxmlschemas.google.com/" cellId="372:2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Bull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$3.13T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2.5x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$1.25T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1.79x (below target)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72:3:4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73" name="Google Shape;373;p7" title="spacex_entry_sensitivity_chart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225" y="726150"/>
            <a:ext cx="4713523" cy="294596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7"/>
          <p:cNvSpPr/>
          <p:nvPr/>
        </p:nvSpPr>
        <p:spPr>
          <a:xfrm>
            <a:off x="259950" y="2078003"/>
            <a:ext cx="3383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Return Profile</a:t>
            </a:r>
            <a:endParaRPr b="1" sz="1300">
              <a:solidFill>
                <a:srgbClr val="1A2B3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Bear case: </a:t>
            </a:r>
            <a:r>
              <a:rPr b="1" lang="en-US" sz="1200">
                <a:solidFill>
                  <a:srgbClr val="1A2B38"/>
                </a:solidFill>
              </a:rPr>
              <a:t>0.32x</a:t>
            </a:r>
            <a:r>
              <a:rPr lang="en-US" sz="1200">
                <a:solidFill>
                  <a:srgbClr val="1A2B38"/>
                </a:solidFill>
              </a:rPr>
              <a:t> → capital loss</a:t>
            </a:r>
            <a:endParaRPr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Base case: </a:t>
            </a:r>
            <a:r>
              <a:rPr b="1" lang="en-US" sz="1200">
                <a:solidFill>
                  <a:srgbClr val="1A2B38"/>
                </a:solidFill>
              </a:rPr>
              <a:t>0.71x</a:t>
            </a:r>
            <a:r>
              <a:rPr lang="en-US" sz="1200">
                <a:solidFill>
                  <a:srgbClr val="1A2B38"/>
                </a:solidFill>
              </a:rPr>
              <a:t> → subscale return</a:t>
            </a:r>
            <a:endParaRPr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Bull case: </a:t>
            </a:r>
            <a:r>
              <a:rPr b="1" lang="en-US" sz="1200">
                <a:solidFill>
                  <a:srgbClr val="1A2B38"/>
                </a:solidFill>
              </a:rPr>
              <a:t>1.79x </a:t>
            </a:r>
            <a:r>
              <a:rPr lang="en-US" sz="1200">
                <a:solidFill>
                  <a:srgbClr val="1A2B38"/>
                </a:solidFill>
              </a:rPr>
              <a:t>→ below target return (2.0x)</a:t>
            </a:r>
            <a:endParaRPr sz="1200">
              <a:solidFill>
                <a:srgbClr val="1A2B38"/>
              </a:solidFill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259950" y="3158678"/>
            <a:ext cx="3383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lang="en-US" sz="1300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Pricing vs Intrinsic Value</a:t>
            </a:r>
            <a:endParaRPr b="1" sz="1300">
              <a:solidFill>
                <a:srgbClr val="1A2B3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IPO valuation: </a:t>
            </a:r>
            <a:r>
              <a:rPr b="1" lang="en-US" sz="1200">
                <a:solidFill>
                  <a:srgbClr val="1A2B38"/>
                </a:solidFill>
              </a:rPr>
              <a:t>$1.75T</a:t>
            </a:r>
            <a:endParaRPr b="1"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Base-case value: </a:t>
            </a:r>
            <a:r>
              <a:rPr b="1" lang="en-US" sz="1200">
                <a:solidFill>
                  <a:srgbClr val="1A2B38"/>
                </a:solidFill>
              </a:rPr>
              <a:t>$1.24T (–29%)</a:t>
            </a:r>
            <a:endParaRPr b="1" sz="1200">
              <a:solidFill>
                <a:srgbClr val="1A2B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1A2B38"/>
                </a:solidFill>
              </a:rPr>
              <a:t>Bull-case fair entry: </a:t>
            </a:r>
            <a:r>
              <a:rPr b="1" lang="en-US" sz="1200">
                <a:solidFill>
                  <a:srgbClr val="1A2B38"/>
                </a:solidFill>
              </a:rPr>
              <a:t>$1.25T (–28%)</a:t>
            </a:r>
            <a:endParaRPr b="1" sz="1200">
              <a:solidFill>
                <a:srgbClr val="1A2B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Risk Matrix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457200" y="802083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Likelihood × Impact — 16 risk factors mapped  |  TEAMMATE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1280160" y="1057965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Rare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200400" y="1057965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Unlikely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5120640" y="1057965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7040880" y="1057965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Likely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45720" y="1378005"/>
            <a:ext cx="1188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5720" y="2200965"/>
            <a:ext cx="1188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5720" y="3023925"/>
            <a:ext cx="1188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45720" y="3846885"/>
            <a:ext cx="1188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1280160" y="1378005"/>
            <a:ext cx="1920300" cy="822900"/>
          </a:xfrm>
          <a:prstGeom prst="rect">
            <a:avLst/>
          </a:prstGeom>
          <a:solidFill>
            <a:srgbClr val="FFE8E8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8"/>
          <p:cNvSpPr/>
          <p:nvPr/>
        </p:nvSpPr>
        <p:spPr>
          <a:xfrm>
            <a:off x="3200400" y="1378005"/>
            <a:ext cx="1920300" cy="822900"/>
          </a:xfrm>
          <a:prstGeom prst="rect">
            <a:avLst/>
          </a:prstGeom>
          <a:solidFill>
            <a:srgbClr val="FFD0D0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5120640" y="1378005"/>
            <a:ext cx="1920300" cy="822900"/>
          </a:xfrm>
          <a:prstGeom prst="rect">
            <a:avLst/>
          </a:prstGeom>
          <a:solidFill>
            <a:srgbClr val="FFB8B8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7040880" y="1378005"/>
            <a:ext cx="1920300" cy="822900"/>
          </a:xfrm>
          <a:prstGeom prst="rect">
            <a:avLst/>
          </a:prstGeom>
          <a:solidFill>
            <a:srgbClr val="FF9999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1280160" y="2200965"/>
            <a:ext cx="1920300" cy="822900"/>
          </a:xfrm>
          <a:prstGeom prst="rect">
            <a:avLst/>
          </a:prstGeom>
          <a:solidFill>
            <a:srgbClr val="FFF0D0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3200400" y="2200965"/>
            <a:ext cx="1920300" cy="822900"/>
          </a:xfrm>
          <a:prstGeom prst="rect">
            <a:avLst/>
          </a:prstGeom>
          <a:solidFill>
            <a:srgbClr val="FFE0A0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5120640" y="2200965"/>
            <a:ext cx="1920300" cy="822900"/>
          </a:xfrm>
          <a:prstGeom prst="rect">
            <a:avLst/>
          </a:prstGeom>
          <a:solidFill>
            <a:srgbClr val="FFD080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7040880" y="2200965"/>
            <a:ext cx="1920300" cy="822900"/>
          </a:xfrm>
          <a:prstGeom prst="rect">
            <a:avLst/>
          </a:prstGeom>
          <a:solidFill>
            <a:srgbClr val="FFBF50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1280160" y="3023925"/>
            <a:ext cx="1920300" cy="822900"/>
          </a:xfrm>
          <a:prstGeom prst="rect">
            <a:avLst/>
          </a:prstGeom>
          <a:solidFill>
            <a:srgbClr val="EDFAEE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3200400" y="3023925"/>
            <a:ext cx="1920300" cy="822900"/>
          </a:xfrm>
          <a:prstGeom prst="rect">
            <a:avLst/>
          </a:prstGeom>
          <a:solidFill>
            <a:srgbClr val="D5F2D7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5120640" y="3023925"/>
            <a:ext cx="1920300" cy="822900"/>
          </a:xfrm>
          <a:prstGeom prst="rect">
            <a:avLst/>
          </a:prstGeom>
          <a:solidFill>
            <a:srgbClr val="C0ECC2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8"/>
          <p:cNvSpPr/>
          <p:nvPr/>
        </p:nvSpPr>
        <p:spPr>
          <a:xfrm>
            <a:off x="7040880" y="3023925"/>
            <a:ext cx="1920300" cy="822900"/>
          </a:xfrm>
          <a:prstGeom prst="rect">
            <a:avLst/>
          </a:prstGeom>
          <a:solidFill>
            <a:srgbClr val="A8E4AB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1280160" y="3846885"/>
            <a:ext cx="1920300" cy="822900"/>
          </a:xfrm>
          <a:prstGeom prst="rect">
            <a:avLst/>
          </a:prstGeom>
          <a:solidFill>
            <a:srgbClr val="E8F4FD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"/>
          <p:cNvSpPr/>
          <p:nvPr/>
        </p:nvSpPr>
        <p:spPr>
          <a:xfrm>
            <a:off x="3200400" y="3846885"/>
            <a:ext cx="1920300" cy="822900"/>
          </a:xfrm>
          <a:prstGeom prst="rect">
            <a:avLst/>
          </a:prstGeom>
          <a:solidFill>
            <a:srgbClr val="D0E8FA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5120640" y="3846885"/>
            <a:ext cx="1920300" cy="822900"/>
          </a:xfrm>
          <a:prstGeom prst="rect">
            <a:avLst/>
          </a:prstGeom>
          <a:solidFill>
            <a:srgbClr val="B8DCF7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7040880" y="3846885"/>
            <a:ext cx="1920300" cy="822900"/>
          </a:xfrm>
          <a:prstGeom prst="rect">
            <a:avLst/>
          </a:prstGeom>
          <a:solidFill>
            <a:srgbClr val="A0D0F4">
              <a:alpha val="85098"/>
            </a:srgbClr>
          </a:solidFill>
          <a:ln cap="flat" cmpd="sng" w="9525">
            <a:solidFill>
              <a:srgbClr val="2B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7799832" y="1588317"/>
            <a:ext cx="402300" cy="4023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7799832" y="158831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7799832" y="2411277"/>
            <a:ext cx="402300" cy="4023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7799832" y="241127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5879592" y="1588317"/>
            <a:ext cx="402300" cy="4023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5879592" y="158831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5879592" y="2411277"/>
            <a:ext cx="402300" cy="402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5879592" y="241127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3959352" y="1588317"/>
            <a:ext cx="402300" cy="4023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3959352" y="158831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7799832" y="3234237"/>
            <a:ext cx="402300" cy="4023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7799832" y="323423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5879592" y="3234237"/>
            <a:ext cx="402300" cy="4023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5879592" y="323423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3959352" y="2411277"/>
            <a:ext cx="402300" cy="4023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3959352" y="241127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2039112" y="1588317"/>
            <a:ext cx="402300" cy="402300"/>
          </a:xfrm>
          <a:prstGeom prst="ellipse">
            <a:avLst/>
          </a:prstGeom>
          <a:solidFill>
            <a:srgbClr val="6B4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2039112" y="158831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2039112" y="2411277"/>
            <a:ext cx="402300" cy="402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2039112" y="2411277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457200" y="4715565"/>
            <a:ext cx="201300" cy="2013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8"/>
          <p:cNvSpPr/>
          <p:nvPr/>
        </p:nvSpPr>
        <p:spPr>
          <a:xfrm>
            <a:off x="713232" y="46972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R1  Musk key-person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2148840" y="4715565"/>
            <a:ext cx="201300" cy="2013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"/>
          <p:cNvSpPr/>
          <p:nvPr/>
        </p:nvSpPr>
        <p:spPr>
          <a:xfrm>
            <a:off x="2404872" y="46972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R2  xAI cash burn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3840480" y="4715565"/>
            <a:ext cx="201300" cy="2013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4096512" y="46972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R3  Multiple compression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5532120" y="4715565"/>
            <a:ext cx="201300" cy="201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8"/>
          <p:cNvSpPr/>
          <p:nvPr/>
        </p:nvSpPr>
        <p:spPr>
          <a:xfrm>
            <a:off x="5788152" y="46972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R6  Starship delays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7223760" y="4715565"/>
            <a:ext cx="201300" cy="2013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7479792" y="46972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R8  Space debris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7589520" y="164592"/>
            <a:ext cx="118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Rachel Qiu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Risk Deep Dive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7589520" y="16459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Rachel Qiu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365750" y="1311673"/>
            <a:ext cx="8412600" cy="84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365750" y="1311673"/>
            <a:ext cx="73200" cy="841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530342" y="1375772"/>
            <a:ext cx="749700" cy="224400"/>
          </a:xfrm>
          <a:prstGeom prst="roundRect">
            <a:avLst>
              <a:gd fmla="val 14286" name="adj"/>
            </a:avLst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530342" y="1375772"/>
            <a:ext cx="7497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1371590" y="1359747"/>
            <a:ext cx="71322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R1  Musk Key-Person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530342" y="1616141"/>
            <a:ext cx="50292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Dual-class 10:1 Class B shares give unilateral control with no succession mechanism. Concurrently leads SpaceX, xAI, Tesla, and DOGE.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5650950" y="1513147"/>
            <a:ext cx="292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00"/>
              <a:buFont typeface="Calibri"/>
              <a:buNone/>
            </a:pPr>
            <a:r>
              <a:rPr b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Mitigant: Businesses diversified across launch, broadband, and defense — less fragile than single-line contractor</a:t>
            </a:r>
            <a:endParaRPr b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365750" y="2209052"/>
            <a:ext cx="8412600" cy="84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365750" y="2209052"/>
            <a:ext cx="73200" cy="841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530342" y="2273151"/>
            <a:ext cx="749700" cy="224100"/>
          </a:xfrm>
          <a:prstGeom prst="roundRect">
            <a:avLst>
              <a:gd fmla="val 14286" name="adj"/>
            </a:avLst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530342" y="2273151"/>
            <a:ext cx="749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1371590" y="2257126"/>
            <a:ext cx="713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R3  Valuation / Multiple Compression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530342" y="2513520"/>
            <a:ext cx="50292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$1.75T implies ~109× P/S on $16B 2025 revenue. No public market comparable. Bear and base-case exits return &lt;1.0× on IPO entry.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5650945" y="2429395"/>
            <a:ext cx="292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Mitigant: Bear case still &gt;$550B — catastrophic total-loss scenario is not the base risk, compression 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65750" y="3106432"/>
            <a:ext cx="8412600" cy="84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365750" y="3106432"/>
            <a:ext cx="73200" cy="841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530342" y="3170530"/>
            <a:ext cx="749700" cy="224100"/>
          </a:xfrm>
          <a:prstGeom prst="roundRect">
            <a:avLst>
              <a:gd fmla="val 14286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530342" y="3170530"/>
            <a:ext cx="749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1371590" y="3154505"/>
            <a:ext cx="713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R2  xAI Cash Burn Import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530342" y="3410900"/>
            <a:ext cx="50292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Post-merger, xAI's $9.5B burn (3Q 2025) on $210M revenue creates structural cross-subsidy absorbed by IPO investors.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5669270" y="3329400"/>
            <a:ext cx="292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Mitigant: Starlink EBITDA ($8B+) provides buffer, but investor dilution from continued xAI losses is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365750" y="4003811"/>
            <a:ext cx="8412600" cy="84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365750" y="4003811"/>
            <a:ext cx="73200" cy="841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530342" y="4067909"/>
            <a:ext cx="749700" cy="224100"/>
          </a:xfrm>
          <a:prstGeom prst="roundRect">
            <a:avLst>
              <a:gd fmla="val 14286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530342" y="4067909"/>
            <a:ext cx="749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1371590" y="4051885"/>
            <a:ext cx="713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R8  Space Debris &amp; Collision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530342" y="4308279"/>
            <a:ext cx="50292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7,800+ satellites in orbit; fleet density growth raises Kessler cascade probability and regulatory scrutiny over the investment horizon.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5669270" y="4208669"/>
            <a:ext cx="292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00"/>
              <a:buFont typeface="Calibri"/>
              <a:buNone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Mitigant: SpaceX maintains best-in-class deorbit compliance record; operational leadership is a regulatory asset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9"/>
          <p:cNvCxnSpPr/>
          <p:nvPr/>
        </p:nvCxnSpPr>
        <p:spPr>
          <a:xfrm>
            <a:off x="5577830" y="1311673"/>
            <a:ext cx="0" cy="3589500"/>
          </a:xfrm>
          <a:prstGeom prst="straightConnector1">
            <a:avLst/>
          </a:prstGeom>
          <a:noFill/>
          <a:ln cap="flat" cmpd="sng" w="9525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75" name="Google Shape;475;p9"/>
          <p:cNvSpPr/>
          <p:nvPr/>
        </p:nvSpPr>
        <p:spPr>
          <a:xfrm>
            <a:off x="365742" y="928875"/>
            <a:ext cx="49377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1" i="0" lang="en-US" sz="2000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2000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5559545" y="920862"/>
            <a:ext cx="2926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Mitigant</a:t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/>
          <p:nvPr/>
        </p:nvSpPr>
        <p:spPr>
          <a:xfrm>
            <a:off x="457200" y="274320"/>
            <a:ext cx="2743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457200" y="27432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HOLD /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PASS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457200" y="169164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AT $1.75T IPO PRICING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865725" y="18287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Rishabh Gandhi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3474720" y="320040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business is exceptional. The price is not.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4925725" y="1047600"/>
            <a:ext cx="4037400" cy="29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29ABE2"/>
                </a:solidFill>
                <a:latin typeface="Arial Black"/>
                <a:ea typeface="Arial Black"/>
                <a:cs typeface="Arial Black"/>
                <a:sym typeface="Arial Black"/>
              </a:rPr>
              <a:t>Investment View</a:t>
            </a:r>
            <a:endParaRPr b="1" sz="1600">
              <a:solidFill>
                <a:srgbClr val="29A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t/>
            </a:r>
            <a:endParaRPr b="1" sz="1600">
              <a:solidFill>
                <a:srgbClr val="29A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Strong Business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Wide moat: launch + Starlink integration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Dominant LEO broadband position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 and expanding TAM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Risks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Governance concentration (Musk control)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xAI capital allocation / dilution risk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Multiple compression at scale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Valuation Disconnect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IPO: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$1.75T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value: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$1.24T (–29%)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Returns: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&lt;1.0x 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bear/base scenarios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394845" y="201168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Conditions to upgrade to BUY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394845" y="2423160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394845" y="242316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687453" y="2423160"/>
            <a:ext cx="493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Secondary / pre-IPO access at </a:t>
            </a:r>
            <a:r>
              <a:rPr b="1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≤$1.25T</a:t>
            </a:r>
            <a:r>
              <a:rPr b="0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 (bull fair entry)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394845" y="2926080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394845" y="292608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687453" y="2926080"/>
            <a:ext cx="493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Post-lockup re-rating to </a:t>
            </a:r>
            <a:r>
              <a:rPr b="1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≤$1.0–1.2T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394845" y="3429000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394845" y="3429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687453" y="3429000"/>
            <a:ext cx="493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xAI losses capped / structurally ring-fenced from SpaceX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394845" y="3931920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394845" y="39319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687453" y="3931920"/>
            <a:ext cx="493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Governance improvement: independent board, succession plan disclosed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10"/>
          <p:cNvCxnSpPr/>
          <p:nvPr/>
        </p:nvCxnSpPr>
        <p:spPr>
          <a:xfrm>
            <a:off x="457200" y="46177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8FA3B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02" name="Google Shape;502;p10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Overall moat: WIDE  ·  Economic moat: strong  ·  Governance moat: weak  ·  Entry price: unattractive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$15M Investment Structure Proposal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7589520" y="16459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Nancy Zheng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365760" y="804672"/>
            <a:ext cx="841248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365760" y="804672"/>
            <a:ext cx="73152" cy="76809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530352" y="987552"/>
            <a:ext cx="347472" cy="347472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530352" y="9875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7635240" y="877824"/>
            <a:ext cx="914400" cy="256032"/>
          </a:xfrm>
          <a:prstGeom prst="roundRect">
            <a:avLst>
              <a:gd fmla="val 14286" name="adj"/>
            </a:avLst>
          </a:prstGeom>
          <a:solidFill>
            <a:srgbClr val="2E8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7635240" y="8778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1005840" y="859536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150"/>
              <a:buFont typeface="Arial Black"/>
              <a:buNone/>
            </a:pPr>
            <a:r>
              <a:rPr b="1" i="0" lang="en-US" sz="115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Tranche the position — do not deploy $15M at IPO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1005840" y="1170432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Deploy $5–7M at IPO open. Reserve $8–10M for 90–180 day post-lockup window where early-investor selling historically compresses multiples toward base case.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365760" y="1645920"/>
            <a:ext cx="841248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365760" y="1645920"/>
            <a:ext cx="73152" cy="76809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530352" y="1828800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530352" y="1828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7635240" y="1719072"/>
            <a:ext cx="914400" cy="256032"/>
          </a:xfrm>
          <a:prstGeom prst="roundRect">
            <a:avLst>
              <a:gd fmla="val 14286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7635240" y="17190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1005840" y="1700784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150"/>
              <a:buFont typeface="Arial Black"/>
              <a:buNone/>
            </a:pPr>
            <a:r>
              <a:rPr b="1" i="0" lang="en-US" sz="115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Pursue secondary / pre-IPO access immediately  ★ Preferred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1005840" y="2011680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VC fair entry at bull-case is $1.25T. Pre-IPO secondary at $800B–$1.0T is structurally superior. Engage Forge Global, Nasdaq Private Market now.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365760" y="2487168"/>
            <a:ext cx="841248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365760" y="2487168"/>
            <a:ext cx="73152" cy="7680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530352" y="2670048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530352" y="26700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7635240" y="2560320"/>
            <a:ext cx="914400" cy="256032"/>
          </a:xfrm>
          <a:prstGeom prst="roundRect">
            <a:avLst>
              <a:gd fmla="val 14286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7635240" y="2560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Mgmt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1005840" y="2542032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150"/>
              <a:buFont typeface="Arial Black"/>
              <a:buNone/>
            </a:pPr>
            <a:r>
              <a:rPr b="1" i="0" lang="en-US" sz="115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Set governance trigger for IC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1005840" y="2852928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Auto-convene IC within 30 days if: Musk divests &gt;5% personal holdings / xAI losses exceed $15B/yr / second Starship regulatory pause occurs.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365760" y="3328416"/>
            <a:ext cx="841248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365760" y="3328416"/>
            <a:ext cx="73152" cy="768096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530352" y="3511296"/>
            <a:ext cx="347472" cy="347472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530352" y="351129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7635240" y="3401568"/>
            <a:ext cx="914400" cy="256032"/>
          </a:xfrm>
          <a:prstGeom prst="roundRect">
            <a:avLst>
              <a:gd fmla="val 14286" name="adj"/>
            </a:avLst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7635240" y="34015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1005840" y="3383280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150"/>
              <a:buFont typeface="Arial Black"/>
              <a:buNone/>
            </a:pPr>
            <a:r>
              <a:rPr b="1" i="0" lang="en-US" sz="115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Hard cap at 10% of alternatives 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1005840" y="369417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$15M = 10.4% of $144M alt allocation. Do not average up above $1.75T under any scenario. Ceiling holds unless re-rating brings entry below $1.2T.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365760" y="4169664"/>
            <a:ext cx="841248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365760" y="4169664"/>
            <a:ext cx="73152" cy="7680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30352" y="4352544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530352" y="43525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7635240" y="4242816"/>
            <a:ext cx="914400" cy="256032"/>
          </a:xfrm>
          <a:prstGeom prst="roundRect">
            <a:avLst>
              <a:gd fmla="val 14286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7635240" y="4242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Hedge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1005840" y="4224528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8"/>
              </a:buClr>
              <a:buSzPts val="1150"/>
              <a:buFont typeface="Arial Black"/>
              <a:buNone/>
            </a:pPr>
            <a:r>
              <a:rPr b="1" i="0" lang="en-US" sz="1150" u="none" cap="none" strike="noStrike">
                <a:solidFill>
                  <a:srgbClr val="1A2B38"/>
                </a:solidFill>
                <a:latin typeface="Arial Black"/>
                <a:ea typeface="Arial Black"/>
                <a:cs typeface="Arial Black"/>
                <a:sym typeface="Arial Black"/>
              </a:rPr>
              <a:t>Hedge via public-market satellite basket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1005840" y="4535424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B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B5A"/>
                </a:solidFill>
                <a:latin typeface="Calibri"/>
                <a:ea typeface="Calibri"/>
                <a:cs typeface="Calibri"/>
                <a:sym typeface="Calibri"/>
              </a:rPr>
              <a:t>Small position in Iridium / Viasat / Rocket Lab as partial hedge. If SpaceX thesis re-rates negatively, competitive dynamics lift these names.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2026-04-28T04:51:11Z</dcterms:created>
  <dc:creator>PptxGenJS</dc:creator>
</cp:coreProperties>
</file>