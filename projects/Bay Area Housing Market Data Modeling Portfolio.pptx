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9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7CD4C6-333E-4678-B2EE-F24041917970}" v="50" dt="2026-01-01T02:11:56.4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an Kawai" userId="270b3c2a488628a4" providerId="LiveId" clId="{158DCA3B-78F8-42D3-BC52-A0EA6FA15B25}"/>
    <pc:docChg chg="undo custSel addSld modSld sldOrd">
      <pc:chgData name="Keean Kawai" userId="270b3c2a488628a4" providerId="LiveId" clId="{158DCA3B-78F8-42D3-BC52-A0EA6FA15B25}" dt="2026-01-01T02:12:50.970" v="572" actId="20577"/>
      <pc:docMkLst>
        <pc:docMk/>
      </pc:docMkLst>
      <pc:sldChg chg="modSp mod">
        <pc:chgData name="Keean Kawai" userId="270b3c2a488628a4" providerId="LiveId" clId="{158DCA3B-78F8-42D3-BC52-A0EA6FA15B25}" dt="2026-01-01T02:11:55.050" v="560" actId="1076"/>
        <pc:sldMkLst>
          <pc:docMk/>
          <pc:sldMk cId="0" sldId="257"/>
        </pc:sldMkLst>
        <pc:graphicFrameChg chg="mod modGraphic">
          <ac:chgData name="Keean Kawai" userId="270b3c2a488628a4" providerId="LiveId" clId="{158DCA3B-78F8-42D3-BC52-A0EA6FA15B25}" dt="2026-01-01T02:11:55.050" v="560" actId="1076"/>
          <ac:graphicFrameMkLst>
            <pc:docMk/>
            <pc:sldMk cId="0" sldId="257"/>
            <ac:graphicFrameMk id="14" creationId="{CB73C8CF-64EE-58EB-B809-30E600E50577}"/>
          </ac:graphicFrameMkLst>
        </pc:graphicFrameChg>
      </pc:sldChg>
      <pc:sldChg chg="modSp mod">
        <pc:chgData name="Keean Kawai" userId="270b3c2a488628a4" providerId="LiveId" clId="{158DCA3B-78F8-42D3-BC52-A0EA6FA15B25}" dt="2026-01-01T02:12:39.681" v="568" actId="1076"/>
        <pc:sldMkLst>
          <pc:docMk/>
          <pc:sldMk cId="0" sldId="259"/>
        </pc:sldMkLst>
        <pc:graphicFrameChg chg="mod">
          <ac:chgData name="Keean Kawai" userId="270b3c2a488628a4" providerId="LiveId" clId="{158DCA3B-78F8-42D3-BC52-A0EA6FA15B25}" dt="2026-01-01T02:12:39.681" v="568" actId="1076"/>
          <ac:graphicFrameMkLst>
            <pc:docMk/>
            <pc:sldMk cId="0" sldId="259"/>
            <ac:graphicFrameMk id="5" creationId="{E5BF0CFE-AA8A-CC85-3433-7AA0D32564F1}"/>
          </ac:graphicFrameMkLst>
        </pc:graphicFrameChg>
        <pc:graphicFrameChg chg="mod">
          <ac:chgData name="Keean Kawai" userId="270b3c2a488628a4" providerId="LiveId" clId="{158DCA3B-78F8-42D3-BC52-A0EA6FA15B25}" dt="2026-01-01T02:12:37.795" v="567" actId="1076"/>
          <ac:graphicFrameMkLst>
            <pc:docMk/>
            <pc:sldMk cId="0" sldId="259"/>
            <ac:graphicFrameMk id="6" creationId="{E3319463-458D-43F0-7976-C2351ACC759A}"/>
          </ac:graphicFrameMkLst>
        </pc:graphicFrameChg>
      </pc:sldChg>
      <pc:sldChg chg="modSp add mod ord">
        <pc:chgData name="Keean Kawai" userId="270b3c2a488628a4" providerId="LiveId" clId="{158DCA3B-78F8-42D3-BC52-A0EA6FA15B25}" dt="2026-01-01T02:12:50.970" v="572" actId="20577"/>
        <pc:sldMkLst>
          <pc:docMk/>
          <pc:sldMk cId="4135295897" sldId="269"/>
        </pc:sldMkLst>
        <pc:spChg chg="mod">
          <ac:chgData name="Keean Kawai" userId="270b3c2a488628a4" providerId="LiveId" clId="{158DCA3B-78F8-42D3-BC52-A0EA6FA15B25}" dt="2026-01-01T02:02:17.985" v="29" actId="20577"/>
          <ac:spMkLst>
            <pc:docMk/>
            <pc:sldMk cId="4135295897" sldId="269"/>
            <ac:spMk id="2" creationId="{ED7FA767-B6E6-9316-AF5C-89DFAD10AD29}"/>
          </ac:spMkLst>
        </pc:spChg>
        <pc:spChg chg="mod">
          <ac:chgData name="Keean Kawai" userId="270b3c2a488628a4" providerId="LiveId" clId="{158DCA3B-78F8-42D3-BC52-A0EA6FA15B25}" dt="2026-01-01T02:12:50.970" v="572" actId="20577"/>
          <ac:spMkLst>
            <pc:docMk/>
            <pc:sldMk cId="4135295897" sldId="269"/>
            <ac:spMk id="8" creationId="{57E73FF1-60CD-028F-684F-566D078D3343}"/>
          </ac:spMkLst>
        </pc:spChg>
        <pc:graphicFrameChg chg="mod modGraphic">
          <ac:chgData name="Keean Kawai" userId="270b3c2a488628a4" providerId="LiveId" clId="{158DCA3B-78F8-42D3-BC52-A0EA6FA15B25}" dt="2026-01-01T02:10:06.356" v="474" actId="207"/>
          <ac:graphicFrameMkLst>
            <pc:docMk/>
            <pc:sldMk cId="4135295897" sldId="269"/>
            <ac:graphicFrameMk id="14" creationId="{386F6022-E308-D065-4D53-AC892B3C88FC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eean\Downloads\bay%20area%20housing%20pi%20and%20avg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CPI Housing Index: San Francisco–Oakland–Hayward (2017–2025)</a:t>
            </a:r>
          </a:p>
          <a:p>
            <a:pPr algn="l">
              <a:defRPr/>
            </a:pPr>
            <a:r>
              <a:rPr lang="en-US" sz="1000" dirty="0">
                <a:latin typeface="Segoe UI Black" panose="020B0A02040204020203" pitchFamily="34" charset="0"/>
                <a:ea typeface="Segoe UI Black" panose="020B0A02040204020203" pitchFamily="34" charset="0"/>
              </a:rPr>
              <a:t>Data Source: FRED – U.S. Bureau of Labor Statistics (BLS)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'bay area housing pi and avg'!$A$2:$A$17</c:f>
              <c:numCache>
                <c:formatCode>m/d/yyyy</c:formatCode>
                <c:ptCount val="16"/>
                <c:pt idx="0">
                  <c:v>42917</c:v>
                </c:pt>
                <c:pt idx="1">
                  <c:v>43101</c:v>
                </c:pt>
                <c:pt idx="2">
                  <c:v>43282</c:v>
                </c:pt>
                <c:pt idx="3">
                  <c:v>43466</c:v>
                </c:pt>
                <c:pt idx="4">
                  <c:v>43647</c:v>
                </c:pt>
                <c:pt idx="5">
                  <c:v>43831</c:v>
                </c:pt>
                <c:pt idx="6">
                  <c:v>44013</c:v>
                </c:pt>
                <c:pt idx="7">
                  <c:v>44197</c:v>
                </c:pt>
                <c:pt idx="8">
                  <c:v>44378</c:v>
                </c:pt>
                <c:pt idx="9">
                  <c:v>44562</c:v>
                </c:pt>
                <c:pt idx="10">
                  <c:v>44743</c:v>
                </c:pt>
                <c:pt idx="11">
                  <c:v>44927</c:v>
                </c:pt>
                <c:pt idx="12">
                  <c:v>45108</c:v>
                </c:pt>
                <c:pt idx="13">
                  <c:v>45292</c:v>
                </c:pt>
                <c:pt idx="14">
                  <c:v>45474</c:v>
                </c:pt>
                <c:pt idx="15">
                  <c:v>45658</c:v>
                </c:pt>
              </c:numCache>
            </c:numRef>
          </c:xVal>
          <c:yVal>
            <c:numRef>
              <c:f>'bay area housing pi and avg'!$B$2:$B$17</c:f>
              <c:numCache>
                <c:formatCode>General</c:formatCode>
                <c:ptCount val="16"/>
                <c:pt idx="0">
                  <c:v>327.00400000000002</c:v>
                </c:pt>
                <c:pt idx="1">
                  <c:v>333.94400000000002</c:v>
                </c:pt>
                <c:pt idx="2">
                  <c:v>339.96899999999999</c:v>
                </c:pt>
                <c:pt idx="3">
                  <c:v>344.82900000000001</c:v>
                </c:pt>
                <c:pt idx="4">
                  <c:v>350.12400000000002</c:v>
                </c:pt>
                <c:pt idx="5">
                  <c:v>356.93</c:v>
                </c:pt>
                <c:pt idx="6">
                  <c:v>359.733</c:v>
                </c:pt>
                <c:pt idx="7">
                  <c:v>363.44900000000001</c:v>
                </c:pt>
                <c:pt idx="8">
                  <c:v>364.79399999999998</c:v>
                </c:pt>
                <c:pt idx="9">
                  <c:v>371.815</c:v>
                </c:pt>
                <c:pt idx="10">
                  <c:v>378.82900000000001</c:v>
                </c:pt>
                <c:pt idx="11">
                  <c:v>391.02600000000001</c:v>
                </c:pt>
                <c:pt idx="12">
                  <c:v>393.36700000000002</c:v>
                </c:pt>
                <c:pt idx="13">
                  <c:v>403.68099999999998</c:v>
                </c:pt>
                <c:pt idx="14">
                  <c:v>403.61399999999998</c:v>
                </c:pt>
                <c:pt idx="15">
                  <c:v>408.94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D3F-49F6-9C90-9B949003F1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21004104"/>
        <c:axId val="520995104"/>
      </c:scatterChart>
      <c:valAx>
        <c:axId val="521004104"/>
        <c:scaling>
          <c:orientation val="minMax"/>
          <c:max val="45810"/>
          <c:min val="42737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+mn-cs"/>
                  </a:defRPr>
                </a:pPr>
                <a:r>
                  <a:rPr lang="en-US" dirty="0"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Observation Date</a:t>
                </a:r>
              </a:p>
            </c:rich>
          </c:tx>
          <c:layout>
            <c:manualLayout>
              <c:xMode val="edge"/>
              <c:yMode val="edge"/>
              <c:x val="0.41220218207325543"/>
              <c:y val="0.8830860695756237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+mn-cs"/>
                </a:defRPr>
              </a:pPr>
              <a:endParaRPr lang="en-US"/>
            </a:p>
          </c:txPr>
        </c:title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n-cs"/>
              </a:defRPr>
            </a:pPr>
            <a:endParaRPr lang="en-US"/>
          </a:p>
        </c:txPr>
        <c:crossAx val="520995104"/>
        <c:crosses val="autoZero"/>
        <c:crossBetween val="midCat"/>
        <c:majorUnit val="365"/>
        <c:minorUnit val="1"/>
      </c:valAx>
      <c:valAx>
        <c:axId val="520995104"/>
        <c:scaling>
          <c:orientation val="minMax"/>
          <c:min val="300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+mn-cs"/>
                  </a:defRPr>
                </a:pPr>
                <a:r>
                  <a:rPr lang="en-US" dirty="0"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CPI Housing Index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1004104"/>
        <c:crosses val="autoZero"/>
        <c:crossBetween val="midCat"/>
        <c:majorUnit val="2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latin typeface="Segoe UI Black" panose="020B0A02040204020203" pitchFamily="34" charset="0"/>
                <a:ea typeface="Segoe UI Black" panose="020B0A02040204020203" pitchFamily="34" charset="0"/>
              </a:rPr>
              <a:t>Average Home Values in San Francisco–Oakland–Hayward (2017–2025)</a:t>
            </a:r>
          </a:p>
          <a:p>
            <a:pPr algn="l">
              <a:defRPr/>
            </a:pPr>
            <a:r>
              <a:rPr lang="en-US" sz="1000" dirty="0">
                <a:latin typeface="Segoe UI Black" panose="020B0A02040204020203" pitchFamily="34" charset="0"/>
                <a:ea typeface="Segoe UI Black" panose="020B0A02040204020203" pitchFamily="34" charset="0"/>
              </a:rPr>
              <a:t>($ in Thousands)</a:t>
            </a:r>
          </a:p>
          <a:p>
            <a:pPr algn="l">
              <a:defRPr/>
            </a:pPr>
            <a:r>
              <a:rPr lang="en-US" sz="1000" dirty="0">
                <a:latin typeface="Segoe UI Black" panose="020B0A02040204020203" pitchFamily="34" charset="0"/>
                <a:ea typeface="Segoe UI Black" panose="020B0A02040204020203" pitchFamily="34" charset="0"/>
              </a:rPr>
              <a:t>Data Source: Zillow Homes Value Index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'bay area housing pi and avg'!$A$45:$A$60</c:f>
              <c:numCache>
                <c:formatCode>m/d/yyyy</c:formatCode>
                <c:ptCount val="16"/>
                <c:pt idx="0">
                  <c:v>42917</c:v>
                </c:pt>
                <c:pt idx="1">
                  <c:v>43101</c:v>
                </c:pt>
                <c:pt idx="2">
                  <c:v>43282</c:v>
                </c:pt>
                <c:pt idx="3">
                  <c:v>43466</c:v>
                </c:pt>
                <c:pt idx="4">
                  <c:v>43647</c:v>
                </c:pt>
                <c:pt idx="5">
                  <c:v>43831</c:v>
                </c:pt>
                <c:pt idx="6">
                  <c:v>44013</c:v>
                </c:pt>
                <c:pt idx="7">
                  <c:v>44197</c:v>
                </c:pt>
                <c:pt idx="8">
                  <c:v>44378</c:v>
                </c:pt>
                <c:pt idx="9">
                  <c:v>44562</c:v>
                </c:pt>
                <c:pt idx="10">
                  <c:v>44743</c:v>
                </c:pt>
                <c:pt idx="11">
                  <c:v>44927</c:v>
                </c:pt>
                <c:pt idx="12">
                  <c:v>45108</c:v>
                </c:pt>
                <c:pt idx="13">
                  <c:v>45292</c:v>
                </c:pt>
                <c:pt idx="14">
                  <c:v>45474</c:v>
                </c:pt>
                <c:pt idx="15">
                  <c:v>45658</c:v>
                </c:pt>
              </c:numCache>
            </c:numRef>
          </c:xVal>
          <c:yVal>
            <c:numRef>
              <c:f>'bay area housing pi and avg'!$B$45:$B$60</c:f>
              <c:numCache>
                <c:formatCode>General</c:formatCode>
                <c:ptCount val="16"/>
                <c:pt idx="0">
                  <c:v>820.07899999999995</c:v>
                </c:pt>
                <c:pt idx="1">
                  <c:v>868.75</c:v>
                </c:pt>
                <c:pt idx="2">
                  <c:v>918.47400000000005</c:v>
                </c:pt>
                <c:pt idx="3">
                  <c:v>921.17200000000003</c:v>
                </c:pt>
                <c:pt idx="4">
                  <c:v>911.38900000000001</c:v>
                </c:pt>
                <c:pt idx="5">
                  <c:v>924.60199999999998</c:v>
                </c:pt>
                <c:pt idx="6">
                  <c:v>931.74400000000003</c:v>
                </c:pt>
                <c:pt idx="7">
                  <c:v>994.971</c:v>
                </c:pt>
                <c:pt idx="8">
                  <c:v>1091.2280000000001</c:v>
                </c:pt>
                <c:pt idx="9">
                  <c:v>1134.49</c:v>
                </c:pt>
                <c:pt idx="10">
                  <c:v>1220.076</c:v>
                </c:pt>
                <c:pt idx="11">
                  <c:v>1103.6990000000001</c:v>
                </c:pt>
                <c:pt idx="12">
                  <c:v>1094.943</c:v>
                </c:pt>
                <c:pt idx="13">
                  <c:v>1110.4069999999999</c:v>
                </c:pt>
                <c:pt idx="14">
                  <c:v>1145.075</c:v>
                </c:pt>
                <c:pt idx="15">
                  <c:v>1140.2619999999999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259-4DEF-A752-2F6B663554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30766048"/>
        <c:axId val="717090928"/>
      </c:scatterChart>
      <c:valAx>
        <c:axId val="530766048"/>
        <c:scaling>
          <c:orientation val="minMax"/>
          <c:max val="45810"/>
          <c:min val="42737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+mn-cs"/>
                  </a:defRPr>
                </a:pPr>
                <a:r>
                  <a:rPr lang="en-US" dirty="0"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Observation</a:t>
                </a:r>
                <a:r>
                  <a:rPr lang="en-US" baseline="0" dirty="0"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 Date</a:t>
                </a:r>
                <a:endParaRPr lang="en-US" dirty="0">
                  <a:latin typeface="Segoe UI Black" panose="020B0A02040204020203" pitchFamily="34" charset="0"/>
                  <a:ea typeface="Segoe UI Black" panose="020B0A02040204020203" pitchFamily="34" charset="0"/>
                </a:endParaRPr>
              </a:p>
            </c:rich>
          </c:tx>
          <c:layout>
            <c:manualLayout>
              <c:xMode val="edge"/>
              <c:yMode val="edge"/>
              <c:x val="0.41354715895230904"/>
              <c:y val="0.8845258462968638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+mn-cs"/>
                </a:defRPr>
              </a:pPr>
              <a:endParaRPr lang="en-US"/>
            </a:p>
          </c:txPr>
        </c:title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chemeClr val="l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n-cs"/>
              </a:defRPr>
            </a:pPr>
            <a:endParaRPr lang="en-US"/>
          </a:p>
        </c:txPr>
        <c:crossAx val="717090928"/>
        <c:crosses val="autoZero"/>
        <c:crossBetween val="midCat"/>
        <c:majorUnit val="365"/>
      </c:valAx>
      <c:valAx>
        <c:axId val="717090928"/>
        <c:scaling>
          <c:orientation val="minMax"/>
          <c:max val="1400"/>
          <c:min val="600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+mn-cs"/>
                  </a:defRPr>
                </a:pPr>
                <a:r>
                  <a:rPr lang="en-US" dirty="0"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Average Home Value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3076604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bg1">
                    <a:lumMod val="75000"/>
                  </a:schemeClr>
                </a:solidFill>
              </a:rPr>
              <a:t>ln(Home Value) on ln(CPI)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bg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'bay area housing pi and avg'!$B$67</c:f>
              <c:strCache>
                <c:ptCount val="1"/>
                <c:pt idx="0">
                  <c:v>ln(Home Value)</c:v>
                </c:pt>
              </c:strCache>
            </c:strRef>
          </c:tx>
          <c:spPr>
            <a:ln w="25400" cap="rnd">
              <a:noFill/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trendline>
            <c:spPr>
              <a:ln w="25400" cap="rnd">
                <a:solidFill>
                  <a:schemeClr val="accent1">
                    <a:alpha val="50000"/>
                  </a:schemeClr>
                </a:solidFill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1.091468165351992E-3"/>
                  <c:y val="3.734011129533487E-2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lt1">
                          <a:lumMod val="75000"/>
                        </a:schemeClr>
                      </a:solidFill>
                      <a:latin typeface="Segoe UI Black" panose="020B0A02040204020203" pitchFamily="34" charset="0"/>
                      <a:ea typeface="Segoe UI Black" panose="020B0A02040204020203" pitchFamily="34" charset="0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'bay area housing pi and avg'!$A$68:$A$83</c:f>
              <c:numCache>
                <c:formatCode>General</c:formatCode>
                <c:ptCount val="16"/>
                <c:pt idx="0">
                  <c:v>10.667023296818002</c:v>
                </c:pt>
                <c:pt idx="1">
                  <c:v>10.67130147767883</c:v>
                </c:pt>
                <c:pt idx="2">
                  <c:v>10.675492123173568</c:v>
                </c:pt>
                <c:pt idx="3">
                  <c:v>10.679734302265647</c:v>
                </c:pt>
                <c:pt idx="4">
                  <c:v>10.683889830383498</c:v>
                </c:pt>
                <c:pt idx="5">
                  <c:v>10.688096608575814</c:v>
                </c:pt>
                <c:pt idx="6">
                  <c:v>10.692240323807754</c:v>
                </c:pt>
                <c:pt idx="7">
                  <c:v>10.696412192459125</c:v>
                </c:pt>
                <c:pt idx="8">
                  <c:v>10.700499130126362</c:v>
                </c:pt>
                <c:pt idx="9">
                  <c:v>10.704636756897351</c:v>
                </c:pt>
                <c:pt idx="10">
                  <c:v>10.708690286886394</c:v>
                </c:pt>
                <c:pt idx="11">
                  <c:v>10.712794229303016</c:v>
                </c:pt>
                <c:pt idx="12">
                  <c:v>10.716814893352179</c:v>
                </c:pt>
                <c:pt idx="13">
                  <c:v>10.72088569543393</c:v>
                </c:pt>
                <c:pt idx="14">
                  <c:v>10.724896013040084</c:v>
                </c:pt>
                <c:pt idx="15">
                  <c:v>10.728934117109558</c:v>
                </c:pt>
              </c:numCache>
            </c:numRef>
          </c:xVal>
          <c:yVal>
            <c:numRef>
              <c:f>'bay area housing pi and avg'!$B$68:$B$83</c:f>
              <c:numCache>
                <c:formatCode>General</c:formatCode>
                <c:ptCount val="16"/>
                <c:pt idx="0">
                  <c:v>13.617155956063309</c:v>
                </c:pt>
                <c:pt idx="1">
                  <c:v>13.674810675861139</c:v>
                </c:pt>
                <c:pt idx="2">
                  <c:v>13.730468876214347</c:v>
                </c:pt>
                <c:pt idx="3">
                  <c:v>13.733402051329948</c:v>
                </c:pt>
                <c:pt idx="4">
                  <c:v>13.722725088395217</c:v>
                </c:pt>
                <c:pt idx="5">
                  <c:v>13.737118653631478</c:v>
                </c:pt>
                <c:pt idx="6">
                  <c:v>13.744813377825198</c:v>
                </c:pt>
                <c:pt idx="7">
                  <c:v>13.810468869987341</c:v>
                </c:pt>
                <c:pt idx="8">
                  <c:v>13.902814225566175</c:v>
                </c:pt>
                <c:pt idx="9">
                  <c:v>13.941693768707479</c:v>
                </c:pt>
                <c:pt idx="10">
                  <c:v>14.014423709851149</c:v>
                </c:pt>
                <c:pt idx="11">
                  <c:v>13.914177823717257</c:v>
                </c:pt>
                <c:pt idx="12">
                  <c:v>13.906212865083321</c:v>
                </c:pt>
                <c:pt idx="13">
                  <c:v>13.920237172749388</c:v>
                </c:pt>
                <c:pt idx="14">
                  <c:v>13.95098069500871</c:v>
                </c:pt>
                <c:pt idx="15">
                  <c:v>13.946768618526463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F71-4328-8DC1-CE10A8F0C9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1000008"/>
        <c:axId val="441000368"/>
      </c:scatterChart>
      <c:valAx>
        <c:axId val="4410000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+mn-cs"/>
                  </a:defRPr>
                </a:pPr>
                <a:r>
                  <a:rPr lang="en-US"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ln(CPI Housing Index)</a:t>
                </a:r>
              </a:p>
            </c:rich>
          </c:tx>
          <c:layout>
            <c:manualLayout>
              <c:xMode val="edge"/>
              <c:yMode val="edge"/>
              <c:x val="0.36923626321454961"/>
              <c:y val="0.9366938033582616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n-cs"/>
              </a:defRPr>
            </a:pPr>
            <a:endParaRPr lang="en-US"/>
          </a:p>
        </c:txPr>
        <c:crossAx val="441000368"/>
        <c:crosses val="autoZero"/>
        <c:crossBetween val="midCat"/>
      </c:valAx>
      <c:valAx>
        <c:axId val="441000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+mn-cs"/>
                  </a:defRPr>
                </a:pPr>
                <a:r>
                  <a:rPr lang="en-US"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ln(Average Home Value)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n-cs"/>
              </a:defRPr>
            </a:pPr>
            <a:endParaRPr lang="en-US"/>
          </a:p>
        </c:txPr>
        <c:crossAx val="44100000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5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3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7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2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  <a:round/>
      </a:ln>
    </cs:spPr>
    <cs:defRPr sz="900" kern="1200"/>
    <cs:bodyPr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45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3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7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2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  <a:round/>
      </a:ln>
    </cs:spPr>
    <cs:defRPr sz="900" kern="1200"/>
    <cs:bodyPr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45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3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7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2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  <a:round/>
      </a:ln>
    </cs:spPr>
    <cs:defRPr sz="900" kern="1200"/>
    <cs:bodyPr/>
  </cs:valueAxis>
  <cs:wall>
    <cs:lnRef idx="0"/>
    <cs:fillRef idx="0"/>
    <cs:effectRef idx="0"/>
    <cs:fontRef idx="minor">
      <a:schemeClr val="dk1"/>
    </cs:fontRef>
  </cs:wall>
</cs:chartStyle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zillow.com/research/data" TargetMode="External"/><Relationship Id="rId1" Type="http://schemas.openxmlformats.org/officeDocument/2006/relationships/hyperlink" Target="https://fred.stlouisfed.org/" TargetMode="External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zillow.com/research/data" TargetMode="External"/><Relationship Id="rId1" Type="http://schemas.openxmlformats.org/officeDocument/2006/relationships/hyperlink" Target="https://fred.stlouisfed.org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AE9F9D-0618-4235-9520-764B8F880CA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5A05FA-24A2-4816-B444-8B4FF34F8FC3}">
      <dgm:prSet phldrT="[Text]" phldr="0"/>
      <dgm:spPr>
        <a:gradFill flip="none" rotWithShape="0">
          <a:gsLst>
            <a:gs pos="0">
              <a:schemeClr val="accent5">
                <a:lumMod val="75000"/>
                <a:shade val="30000"/>
                <a:satMod val="115000"/>
              </a:schemeClr>
            </a:gs>
            <a:gs pos="50000">
              <a:schemeClr val="accent5">
                <a:lumMod val="75000"/>
                <a:shade val="67500"/>
                <a:satMod val="115000"/>
              </a:schemeClr>
            </a:gs>
            <a:gs pos="100000">
              <a:schemeClr val="accent5">
                <a:lumMod val="75000"/>
                <a:shade val="100000"/>
                <a:satMod val="115000"/>
              </a:schemeClr>
            </a:gs>
          </a:gsLst>
          <a:lin ang="5400000" scaled="1"/>
          <a:tileRect/>
        </a:gradFill>
      </dgm:spPr>
      <dgm:t>
        <a:bodyPr/>
        <a:lstStyle/>
        <a:p>
          <a:r>
            <a:rPr lang="en-US" i="1" dirty="0">
              <a:latin typeface="Segoe UI Black" panose="020B0A02040204020203" pitchFamily="34" charset="0"/>
              <a:ea typeface="Segoe UI Black" panose="020B0A02040204020203" pitchFamily="34" charset="0"/>
            </a:rPr>
            <a:t>Bay Area Housing Market Data Modeling </a:t>
          </a:r>
        </a:p>
      </dgm:t>
      <dgm:extLst>
        <a:ext uri="{E40237B7-FDA0-4F09-8148-C483321AD2D9}">
          <dgm14:cNvPr xmlns:dgm14="http://schemas.microsoft.com/office/drawing/2010/diagram" id="0" name="" descr="Aerial view of TV Tower Nagoya Japan"/>
        </a:ext>
      </dgm:extLst>
    </dgm:pt>
    <dgm:pt modelId="{A31DF470-3D96-4F2F-BF99-951DA27A50F1}" type="parTrans" cxnId="{D732CD51-2570-47D2-BCDB-FC8016AF4270}">
      <dgm:prSet/>
      <dgm:spPr/>
      <dgm:t>
        <a:bodyPr/>
        <a:lstStyle/>
        <a:p>
          <a:endParaRPr lang="en-US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CDBF4104-7571-4A4F-BFB6-218FFAF72F41}" type="sibTrans" cxnId="{D732CD51-2570-47D2-BCDB-FC8016AF4270}">
      <dgm:prSet/>
      <dgm:spPr/>
      <dgm:t>
        <a:bodyPr/>
        <a:lstStyle/>
        <a:p>
          <a:endParaRPr lang="en-US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93985633-43BF-4C70-AAF4-23778BE0B704}">
      <dgm:prSet phldrT="[Text]" phldr="0"/>
      <dgm:spPr>
        <a:gradFill flip="none" rotWithShape="0">
          <a:gsLst>
            <a:gs pos="0">
              <a:schemeClr val="accent1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1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5400000" scaled="1"/>
          <a:tileRect/>
        </a:gradFill>
      </dgm:spPr>
      <dgm:t>
        <a:bodyPr/>
        <a:lstStyle/>
        <a:p>
          <a:r>
            <a:rPr lang="en-US" dirty="0">
              <a:latin typeface="Segoe UI Black" panose="020B0A02040204020203" pitchFamily="34" charset="0"/>
              <a:ea typeface="Segoe UI Black" panose="020B0A02040204020203" pitchFamily="34" charset="0"/>
            </a:rPr>
            <a:t>Overview</a:t>
          </a:r>
          <a:br>
            <a:rPr lang="en-US" dirty="0">
              <a:latin typeface="Segoe UI Black" panose="020B0A02040204020203" pitchFamily="34" charset="0"/>
              <a:ea typeface="Segoe UI Black" panose="020B0A02040204020203" pitchFamily="34" charset="0"/>
            </a:rPr>
          </a:br>
          <a:r>
            <a:rPr lang="en-US" dirty="0">
              <a:latin typeface="Segoe UI Black" panose="020B0A02040204020203" pitchFamily="34" charset="0"/>
              <a:ea typeface="Segoe UI Black" panose="020B0A02040204020203" pitchFamily="34" charset="0"/>
            </a:rPr>
            <a:t>3</a:t>
          </a:r>
        </a:p>
      </dgm:t>
    </dgm:pt>
    <dgm:pt modelId="{4279E957-A3FA-4169-85B9-939D6C6F56D4}" type="parTrans" cxnId="{168C9938-42A1-407A-9419-32BB1E819F86}">
      <dgm:prSet/>
      <dgm:spPr/>
      <dgm:t>
        <a:bodyPr/>
        <a:lstStyle/>
        <a:p>
          <a:endParaRPr lang="en-US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651EE143-BAAE-4CE5-BDE1-9ADC88E6BFD0}" type="sibTrans" cxnId="{168C9938-42A1-407A-9419-32BB1E819F86}">
      <dgm:prSet/>
      <dgm:spPr/>
      <dgm:t>
        <a:bodyPr/>
        <a:lstStyle/>
        <a:p>
          <a:endParaRPr lang="en-US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D9712DCB-9E2E-4C37-AE42-425BF948B039}">
      <dgm:prSet phldrT="[Text]" phldr="0"/>
      <dgm:spPr>
        <a:gradFill flip="none" rotWithShape="0">
          <a:gsLst>
            <a:gs pos="0">
              <a:schemeClr val="accent1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1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8100000" scaled="1"/>
          <a:tileRect/>
        </a:gradFill>
      </dgm:spPr>
      <dgm:t>
        <a:bodyPr/>
        <a:lstStyle/>
        <a:p>
          <a:r>
            <a:rPr lang="en-US" dirty="0">
              <a:latin typeface="Segoe UI Black" panose="020B0A02040204020203" pitchFamily="34" charset="0"/>
              <a:ea typeface="Segoe UI Black" panose="020B0A02040204020203" pitchFamily="34" charset="0"/>
            </a:rPr>
            <a:t>Key Analysis</a:t>
          </a:r>
          <a:br>
            <a:rPr lang="en-US" dirty="0">
              <a:latin typeface="Segoe UI Black" panose="020B0A02040204020203" pitchFamily="34" charset="0"/>
              <a:ea typeface="Segoe UI Black" panose="020B0A02040204020203" pitchFamily="34" charset="0"/>
            </a:rPr>
          </a:br>
          <a:r>
            <a:rPr lang="en-US" dirty="0">
              <a:latin typeface="Segoe UI Black" panose="020B0A02040204020203" pitchFamily="34" charset="0"/>
              <a:ea typeface="Segoe UI Black" panose="020B0A02040204020203" pitchFamily="34" charset="0"/>
            </a:rPr>
            <a:t>4</a:t>
          </a:r>
        </a:p>
      </dgm:t>
    </dgm:pt>
    <dgm:pt modelId="{A32AB739-0F43-44E2-8CA4-BC62F683558C}" type="parTrans" cxnId="{B7BA4CB9-CDD8-41AA-B29A-75525A9E0706}">
      <dgm:prSet/>
      <dgm:spPr/>
      <dgm:t>
        <a:bodyPr/>
        <a:lstStyle/>
        <a:p>
          <a:endParaRPr lang="en-US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1A921822-B512-4648-AE5C-A4E3454D9E32}" type="sibTrans" cxnId="{B7BA4CB9-CDD8-41AA-B29A-75525A9E0706}">
      <dgm:prSet/>
      <dgm:spPr/>
      <dgm:t>
        <a:bodyPr/>
        <a:lstStyle/>
        <a:p>
          <a:endParaRPr lang="en-US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6086CC35-251B-41A0-92A1-EE5DA82FC7B1}">
      <dgm:prSet phldrT="[Text]" phldr="0"/>
      <dgm:spPr>
        <a:gradFill flip="none" rotWithShape="0">
          <a:gsLst>
            <a:gs pos="0">
              <a:schemeClr val="accent1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1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shade val="100000"/>
                <a:satMod val="115000"/>
              </a:scheme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r>
            <a:rPr lang="en-US" dirty="0">
              <a:latin typeface="Segoe UI Black" panose="020B0A02040204020203" pitchFamily="34" charset="0"/>
              <a:ea typeface="Segoe UI Black" panose="020B0A02040204020203" pitchFamily="34" charset="0"/>
            </a:rPr>
            <a:t>Regression Analysis</a:t>
          </a:r>
          <a:br>
            <a:rPr lang="en-US" dirty="0">
              <a:latin typeface="Segoe UI Black" panose="020B0A02040204020203" pitchFamily="34" charset="0"/>
              <a:ea typeface="Segoe UI Black" panose="020B0A02040204020203" pitchFamily="34" charset="0"/>
            </a:rPr>
          </a:br>
          <a:r>
            <a:rPr lang="en-US" dirty="0">
              <a:latin typeface="Segoe UI Black" panose="020B0A02040204020203" pitchFamily="34" charset="0"/>
              <a:ea typeface="Segoe UI Black" panose="020B0A02040204020203" pitchFamily="34" charset="0"/>
            </a:rPr>
            <a:t>5</a:t>
          </a:r>
        </a:p>
      </dgm:t>
    </dgm:pt>
    <dgm:pt modelId="{1BDA004C-229E-4A42-8D33-E3D9CE60A79B}" type="parTrans" cxnId="{54DD0588-A149-416E-86CE-58794FDEE61F}">
      <dgm:prSet/>
      <dgm:spPr/>
      <dgm:t>
        <a:bodyPr/>
        <a:lstStyle/>
        <a:p>
          <a:endParaRPr lang="en-US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50F97F1D-78D0-4E8E-A7C2-DFF4A4C1579B}" type="sibTrans" cxnId="{54DD0588-A149-416E-86CE-58794FDEE61F}">
      <dgm:prSet/>
      <dgm:spPr/>
      <dgm:t>
        <a:bodyPr/>
        <a:lstStyle/>
        <a:p>
          <a:endParaRPr lang="en-US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7F3057F1-FDD0-44C6-8181-1C76EB7989E8}">
      <dgm:prSet phldrT="[Text]" phldr="0"/>
      <dgm:spPr>
        <a:gradFill flip="none" rotWithShape="0">
          <a:gsLst>
            <a:gs pos="0">
              <a:schemeClr val="accent1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1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shade val="100000"/>
                <a:satMod val="115000"/>
              </a:schemeClr>
            </a:gs>
          </a:gsLst>
          <a:path path="circle">
            <a:fillToRect t="100000" r="100000"/>
          </a:path>
          <a:tileRect l="-100000" b="-100000"/>
        </a:gradFill>
      </dgm:spPr>
      <dgm:t>
        <a:bodyPr/>
        <a:lstStyle/>
        <a:p>
          <a:r>
            <a:rPr lang="en-US" dirty="0">
              <a:latin typeface="Segoe UI Black" panose="020B0A02040204020203" pitchFamily="34" charset="0"/>
              <a:ea typeface="Segoe UI Black" panose="020B0A02040204020203" pitchFamily="34" charset="0"/>
            </a:rPr>
            <a:t>Strategic Implications</a:t>
          </a:r>
          <a:br>
            <a:rPr lang="en-US" dirty="0">
              <a:latin typeface="Segoe UI Black" panose="020B0A02040204020203" pitchFamily="34" charset="0"/>
              <a:ea typeface="Segoe UI Black" panose="020B0A02040204020203" pitchFamily="34" charset="0"/>
            </a:rPr>
          </a:br>
          <a:r>
            <a:rPr lang="en-US" dirty="0">
              <a:latin typeface="Segoe UI Black" panose="020B0A02040204020203" pitchFamily="34" charset="0"/>
              <a:ea typeface="Segoe UI Black" panose="020B0A02040204020203" pitchFamily="34" charset="0"/>
            </a:rPr>
            <a:t>6</a:t>
          </a:r>
        </a:p>
      </dgm:t>
    </dgm:pt>
    <dgm:pt modelId="{8911BD10-E4D7-4C45-A118-AEAD3254FAB1}" type="parTrans" cxnId="{6F9F14A0-2E10-4E5C-9C7F-E1CEB1E058FD}">
      <dgm:prSet/>
      <dgm:spPr/>
      <dgm:t>
        <a:bodyPr/>
        <a:lstStyle/>
        <a:p>
          <a:endParaRPr lang="en-US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F7815CD2-716E-432B-8CD5-B9A43294395E}" type="sibTrans" cxnId="{6F9F14A0-2E10-4E5C-9C7F-E1CEB1E058FD}">
      <dgm:prSet/>
      <dgm:spPr/>
      <dgm:t>
        <a:bodyPr/>
        <a:lstStyle/>
        <a:p>
          <a:endParaRPr lang="en-US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81915965-8F8C-437F-94AA-DCAA76EC99C4}">
      <dgm:prSet phldrT="[Text]" phldr="0"/>
      <dgm:spPr>
        <a:gradFill flip="none" rotWithShape="0">
          <a:gsLst>
            <a:gs pos="0">
              <a:schemeClr val="accent1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1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shade val="100000"/>
                <a:satMod val="115000"/>
              </a:schemeClr>
            </a:gs>
          </a:gsLst>
          <a:path path="circle">
            <a:fillToRect l="50000" t="50000" r="50000" b="50000"/>
          </a:path>
          <a:tileRect/>
        </a:gradFill>
      </dgm:spPr>
      <dgm:t>
        <a:bodyPr/>
        <a:lstStyle/>
        <a:p>
          <a:r>
            <a:rPr lang="en-US" dirty="0">
              <a:latin typeface="Segoe UI Black" panose="020B0A02040204020203" pitchFamily="34" charset="0"/>
              <a:ea typeface="Segoe UI Black" panose="020B0A02040204020203" pitchFamily="34" charset="0"/>
            </a:rPr>
            <a:t>Key Takeaways</a:t>
          </a:r>
          <a:br>
            <a:rPr lang="en-US" dirty="0">
              <a:latin typeface="Segoe UI Black" panose="020B0A02040204020203" pitchFamily="34" charset="0"/>
              <a:ea typeface="Segoe UI Black" panose="020B0A02040204020203" pitchFamily="34" charset="0"/>
            </a:rPr>
          </a:br>
          <a:r>
            <a:rPr lang="en-US" dirty="0">
              <a:latin typeface="Segoe UI Black" panose="020B0A02040204020203" pitchFamily="34" charset="0"/>
              <a:ea typeface="Segoe UI Black" panose="020B0A02040204020203" pitchFamily="34" charset="0"/>
            </a:rPr>
            <a:t>7</a:t>
          </a:r>
        </a:p>
      </dgm:t>
    </dgm:pt>
    <dgm:pt modelId="{A2C0E92A-1AF4-4C3B-AB1C-38A1D2AD59B4}" type="parTrans" cxnId="{A431686E-BAEE-43EA-926D-4E12B2C60FE4}">
      <dgm:prSet/>
      <dgm:spPr/>
      <dgm:t>
        <a:bodyPr/>
        <a:lstStyle/>
        <a:p>
          <a:endParaRPr lang="en-US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C9DB32E7-DE0B-4C61-B7D6-8D69BEE7D4FE}" type="sibTrans" cxnId="{A431686E-BAEE-43EA-926D-4E12B2C60FE4}">
      <dgm:prSet/>
      <dgm:spPr/>
      <dgm:t>
        <a:bodyPr/>
        <a:lstStyle/>
        <a:p>
          <a:endParaRPr lang="en-US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4BAF6CE5-C6E3-4F07-A669-28CF8DF48E19}">
      <dgm:prSet phldrT="[Text]" phldr="0"/>
      <dgm:spPr>
        <a:gradFill flip="none" rotWithShape="0">
          <a:gsLst>
            <a:gs pos="0">
              <a:schemeClr val="accent1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1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2700000" scaled="1"/>
          <a:tileRect/>
        </a:gradFill>
      </dgm:spPr>
      <dgm:t>
        <a:bodyPr/>
        <a:lstStyle/>
        <a:p>
          <a:r>
            <a:rPr lang="en-US">
              <a:latin typeface="Segoe UI Black" panose="020B0A02040204020203" pitchFamily="34" charset="0"/>
              <a:ea typeface="Segoe UI Black" panose="020B0A02040204020203" pitchFamily="34" charset="0"/>
            </a:rPr>
            <a:t>Table of Contents</a:t>
          </a:r>
          <a:br>
            <a:rPr lang="en-US">
              <a:latin typeface="Segoe UI Black" panose="020B0A02040204020203" pitchFamily="34" charset="0"/>
              <a:ea typeface="Segoe UI Black" panose="020B0A02040204020203" pitchFamily="34" charset="0"/>
            </a:rPr>
          </a:br>
          <a:r>
            <a:rPr lang="en-US">
              <a:latin typeface="Segoe UI Black" panose="020B0A02040204020203" pitchFamily="34" charset="0"/>
              <a:ea typeface="Segoe UI Black" panose="020B0A02040204020203" pitchFamily="34" charset="0"/>
            </a:rPr>
            <a:t>2</a:t>
          </a:r>
          <a:endParaRPr lang="en-US" dirty="0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705463BB-0424-4553-8713-1E8BEED192C6}" type="parTrans" cxnId="{C5B23D9D-30CB-4049-B568-A34F3B99DCAF}">
      <dgm:prSet/>
      <dgm:spPr/>
      <dgm:t>
        <a:bodyPr/>
        <a:lstStyle/>
        <a:p>
          <a:endParaRPr lang="en-US"/>
        </a:p>
      </dgm:t>
    </dgm:pt>
    <dgm:pt modelId="{FC55A745-AD21-4737-BDA7-6ACC326CD7CB}" type="sibTrans" cxnId="{C5B23D9D-30CB-4049-B568-A34F3B99DCAF}">
      <dgm:prSet/>
      <dgm:spPr/>
      <dgm:t>
        <a:bodyPr/>
        <a:lstStyle/>
        <a:p>
          <a:endParaRPr lang="en-US"/>
        </a:p>
      </dgm:t>
    </dgm:pt>
    <dgm:pt modelId="{2A882A08-3EF5-4DBA-8E8C-C35B12D54487}">
      <dgm:prSet phldrT="[Text]" phldr="0"/>
      <dgm:spPr/>
      <dgm:t>
        <a:bodyPr/>
        <a:lstStyle/>
        <a:p>
          <a:r>
            <a:rPr lang="en-US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Data Sources &amp; References</a:t>
          </a:r>
          <a:br>
            <a:rPr lang="en-US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</a:br>
          <a:r>
            <a:rPr lang="en-US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8</a:t>
          </a:r>
        </a:p>
      </dgm:t>
    </dgm:pt>
    <dgm:pt modelId="{F691F9B2-C6D8-4C29-B5D3-6DAC58B49ACF}" type="parTrans" cxnId="{D70ED29F-F666-425E-80E7-953E3C2FC4FB}">
      <dgm:prSet/>
      <dgm:spPr/>
      <dgm:t>
        <a:bodyPr/>
        <a:lstStyle/>
        <a:p>
          <a:endParaRPr lang="en-US"/>
        </a:p>
      </dgm:t>
    </dgm:pt>
    <dgm:pt modelId="{E7FC3E8F-BA45-4D40-AE1E-3E7F8BB25A8C}" type="sibTrans" cxnId="{D70ED29F-F666-425E-80E7-953E3C2FC4FB}">
      <dgm:prSet/>
      <dgm:spPr/>
      <dgm:t>
        <a:bodyPr/>
        <a:lstStyle/>
        <a:p>
          <a:endParaRPr lang="en-US"/>
        </a:p>
      </dgm:t>
    </dgm:pt>
    <dgm:pt modelId="{D369225E-8303-4CD3-993E-2C91E9A9377C}" type="pres">
      <dgm:prSet presAssocID="{67AE9F9D-0618-4235-9520-764B8F880CAF}" presName="linear" presStyleCnt="0">
        <dgm:presLayoutVars>
          <dgm:animLvl val="lvl"/>
          <dgm:resizeHandles val="exact"/>
        </dgm:presLayoutVars>
      </dgm:prSet>
      <dgm:spPr/>
    </dgm:pt>
    <dgm:pt modelId="{F1A803EB-6129-4A01-8168-494E841CCE1A}" type="pres">
      <dgm:prSet presAssocID="{F65A05FA-24A2-4816-B444-8B4FF34F8FC3}" presName="parentText" presStyleLbl="node1" presStyleIdx="0" presStyleCnt="8" custLinFactNeighborX="1258" custLinFactNeighborY="-7858">
        <dgm:presLayoutVars>
          <dgm:chMax val="0"/>
          <dgm:bulletEnabled val="1"/>
        </dgm:presLayoutVars>
      </dgm:prSet>
      <dgm:spPr/>
    </dgm:pt>
    <dgm:pt modelId="{14709411-6072-491F-83E1-839FF6DDCCDC}" type="pres">
      <dgm:prSet presAssocID="{CDBF4104-7571-4A4F-BFB6-218FFAF72F41}" presName="spacer" presStyleCnt="0"/>
      <dgm:spPr/>
    </dgm:pt>
    <dgm:pt modelId="{BC507B34-DFAB-47D5-8CB5-E63EC7434D75}" type="pres">
      <dgm:prSet presAssocID="{4BAF6CE5-C6E3-4F07-A669-28CF8DF48E19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E16A9955-0181-4708-9640-83EA8CBD4633}" type="pres">
      <dgm:prSet presAssocID="{FC55A745-AD21-4737-BDA7-6ACC326CD7CB}" presName="spacer" presStyleCnt="0"/>
      <dgm:spPr/>
    </dgm:pt>
    <dgm:pt modelId="{B706C5F0-3B74-4E14-909C-D7165805C911}" type="pres">
      <dgm:prSet presAssocID="{93985633-43BF-4C70-AAF4-23778BE0B704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B577DE82-BE08-49D4-9AA2-97A2B7BA6107}" type="pres">
      <dgm:prSet presAssocID="{651EE143-BAAE-4CE5-BDE1-9ADC88E6BFD0}" presName="spacer" presStyleCnt="0"/>
      <dgm:spPr/>
    </dgm:pt>
    <dgm:pt modelId="{393486F6-C9C0-4774-97C0-DF80CB22C5C3}" type="pres">
      <dgm:prSet presAssocID="{D9712DCB-9E2E-4C37-AE42-425BF948B039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44C54D43-7A67-41A7-9012-E51D672A6A5B}" type="pres">
      <dgm:prSet presAssocID="{1A921822-B512-4648-AE5C-A4E3454D9E32}" presName="spacer" presStyleCnt="0"/>
      <dgm:spPr/>
    </dgm:pt>
    <dgm:pt modelId="{B55AB872-CFC2-448E-A81F-F3C329569A88}" type="pres">
      <dgm:prSet presAssocID="{6086CC35-251B-41A0-92A1-EE5DA82FC7B1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DFFDCAEE-CA1E-469C-A7C3-AAA54DF8E45E}" type="pres">
      <dgm:prSet presAssocID="{50F97F1D-78D0-4E8E-A7C2-DFF4A4C1579B}" presName="spacer" presStyleCnt="0"/>
      <dgm:spPr/>
    </dgm:pt>
    <dgm:pt modelId="{75132CCF-F9DA-462A-936B-A6085D9DE991}" type="pres">
      <dgm:prSet presAssocID="{7F3057F1-FDD0-44C6-8181-1C76EB7989E8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77D07D26-3ED0-4501-8CE4-AC3F79D58548}" type="pres">
      <dgm:prSet presAssocID="{F7815CD2-716E-432B-8CD5-B9A43294395E}" presName="spacer" presStyleCnt="0"/>
      <dgm:spPr/>
    </dgm:pt>
    <dgm:pt modelId="{5B7191D7-B6CF-468A-B764-1F69FAF5A0B4}" type="pres">
      <dgm:prSet presAssocID="{81915965-8F8C-437F-94AA-DCAA76EC99C4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FDD42D4B-1484-4C09-9410-1A92E353BAFF}" type="pres">
      <dgm:prSet presAssocID="{C9DB32E7-DE0B-4C61-B7D6-8D69BEE7D4FE}" presName="spacer" presStyleCnt="0"/>
      <dgm:spPr/>
    </dgm:pt>
    <dgm:pt modelId="{409184ED-D3F6-4808-8972-A4B378AC9F77}" type="pres">
      <dgm:prSet presAssocID="{2A882A08-3EF5-4DBA-8E8C-C35B12D54487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03AAFC10-706B-4892-AA7D-FD2CC25E566C}" type="presOf" srcId="{4BAF6CE5-C6E3-4F07-A669-28CF8DF48E19}" destId="{BC507B34-DFAB-47D5-8CB5-E63EC7434D75}" srcOrd="0" destOrd="0" presId="urn:microsoft.com/office/officeart/2005/8/layout/vList2"/>
    <dgm:cxn modelId="{58672719-6ABB-4B26-B694-D87BC45741E6}" type="presOf" srcId="{D9712DCB-9E2E-4C37-AE42-425BF948B039}" destId="{393486F6-C9C0-4774-97C0-DF80CB22C5C3}" srcOrd="0" destOrd="0" presId="urn:microsoft.com/office/officeart/2005/8/layout/vList2"/>
    <dgm:cxn modelId="{1F2AEC19-967C-4F2B-977E-74BE003A7F6C}" type="presOf" srcId="{F65A05FA-24A2-4816-B444-8B4FF34F8FC3}" destId="{F1A803EB-6129-4A01-8168-494E841CCE1A}" srcOrd="0" destOrd="0" presId="urn:microsoft.com/office/officeart/2005/8/layout/vList2"/>
    <dgm:cxn modelId="{F643601A-47D4-4CA8-814D-00A54025FCA4}" type="presOf" srcId="{2A882A08-3EF5-4DBA-8E8C-C35B12D54487}" destId="{409184ED-D3F6-4808-8972-A4B378AC9F77}" srcOrd="0" destOrd="0" presId="urn:microsoft.com/office/officeart/2005/8/layout/vList2"/>
    <dgm:cxn modelId="{168C9938-42A1-407A-9419-32BB1E819F86}" srcId="{67AE9F9D-0618-4235-9520-764B8F880CAF}" destId="{93985633-43BF-4C70-AAF4-23778BE0B704}" srcOrd="2" destOrd="0" parTransId="{4279E957-A3FA-4169-85B9-939D6C6F56D4}" sibTransId="{651EE143-BAAE-4CE5-BDE1-9ADC88E6BFD0}"/>
    <dgm:cxn modelId="{A431686E-BAEE-43EA-926D-4E12B2C60FE4}" srcId="{67AE9F9D-0618-4235-9520-764B8F880CAF}" destId="{81915965-8F8C-437F-94AA-DCAA76EC99C4}" srcOrd="6" destOrd="0" parTransId="{A2C0E92A-1AF4-4C3B-AB1C-38A1D2AD59B4}" sibTransId="{C9DB32E7-DE0B-4C61-B7D6-8D69BEE7D4FE}"/>
    <dgm:cxn modelId="{D732CD51-2570-47D2-BCDB-FC8016AF4270}" srcId="{67AE9F9D-0618-4235-9520-764B8F880CAF}" destId="{F65A05FA-24A2-4816-B444-8B4FF34F8FC3}" srcOrd="0" destOrd="0" parTransId="{A31DF470-3D96-4F2F-BF99-951DA27A50F1}" sibTransId="{CDBF4104-7571-4A4F-BFB6-218FFAF72F41}"/>
    <dgm:cxn modelId="{8B526278-476C-47D9-BF0F-C54D4AB2D3DD}" type="presOf" srcId="{7F3057F1-FDD0-44C6-8181-1C76EB7989E8}" destId="{75132CCF-F9DA-462A-936B-A6085D9DE991}" srcOrd="0" destOrd="0" presId="urn:microsoft.com/office/officeart/2005/8/layout/vList2"/>
    <dgm:cxn modelId="{54DD0588-A149-416E-86CE-58794FDEE61F}" srcId="{67AE9F9D-0618-4235-9520-764B8F880CAF}" destId="{6086CC35-251B-41A0-92A1-EE5DA82FC7B1}" srcOrd="4" destOrd="0" parTransId="{1BDA004C-229E-4A42-8D33-E3D9CE60A79B}" sibTransId="{50F97F1D-78D0-4E8E-A7C2-DFF4A4C1579B}"/>
    <dgm:cxn modelId="{A67CE299-25B9-41A0-AEEF-3BDE86B0DBA9}" type="presOf" srcId="{67AE9F9D-0618-4235-9520-764B8F880CAF}" destId="{D369225E-8303-4CD3-993E-2C91E9A9377C}" srcOrd="0" destOrd="0" presId="urn:microsoft.com/office/officeart/2005/8/layout/vList2"/>
    <dgm:cxn modelId="{C5B23D9D-30CB-4049-B568-A34F3B99DCAF}" srcId="{67AE9F9D-0618-4235-9520-764B8F880CAF}" destId="{4BAF6CE5-C6E3-4F07-A669-28CF8DF48E19}" srcOrd="1" destOrd="0" parTransId="{705463BB-0424-4553-8713-1E8BEED192C6}" sibTransId="{FC55A745-AD21-4737-BDA7-6ACC326CD7CB}"/>
    <dgm:cxn modelId="{D70ED29F-F666-425E-80E7-953E3C2FC4FB}" srcId="{67AE9F9D-0618-4235-9520-764B8F880CAF}" destId="{2A882A08-3EF5-4DBA-8E8C-C35B12D54487}" srcOrd="7" destOrd="0" parTransId="{F691F9B2-C6D8-4C29-B5D3-6DAC58B49ACF}" sibTransId="{E7FC3E8F-BA45-4D40-AE1E-3E7F8BB25A8C}"/>
    <dgm:cxn modelId="{6F9F14A0-2E10-4E5C-9C7F-E1CEB1E058FD}" srcId="{67AE9F9D-0618-4235-9520-764B8F880CAF}" destId="{7F3057F1-FDD0-44C6-8181-1C76EB7989E8}" srcOrd="5" destOrd="0" parTransId="{8911BD10-E4D7-4C45-A118-AEAD3254FAB1}" sibTransId="{F7815CD2-716E-432B-8CD5-B9A43294395E}"/>
    <dgm:cxn modelId="{4AA417A3-7D03-45AD-BFB5-4298FDB1DF7B}" type="presOf" srcId="{93985633-43BF-4C70-AAF4-23778BE0B704}" destId="{B706C5F0-3B74-4E14-909C-D7165805C911}" srcOrd="0" destOrd="0" presId="urn:microsoft.com/office/officeart/2005/8/layout/vList2"/>
    <dgm:cxn modelId="{B7BA4CB9-CDD8-41AA-B29A-75525A9E0706}" srcId="{67AE9F9D-0618-4235-9520-764B8F880CAF}" destId="{D9712DCB-9E2E-4C37-AE42-425BF948B039}" srcOrd="3" destOrd="0" parTransId="{A32AB739-0F43-44E2-8CA4-BC62F683558C}" sibTransId="{1A921822-B512-4648-AE5C-A4E3454D9E32}"/>
    <dgm:cxn modelId="{BCA4BEDF-0561-4AA1-AA9A-E5B103251A8D}" type="presOf" srcId="{81915965-8F8C-437F-94AA-DCAA76EC99C4}" destId="{5B7191D7-B6CF-468A-B764-1F69FAF5A0B4}" srcOrd="0" destOrd="0" presId="urn:microsoft.com/office/officeart/2005/8/layout/vList2"/>
    <dgm:cxn modelId="{EA88B5EE-1658-491C-901A-5DDBBCCCFDA7}" type="presOf" srcId="{6086CC35-251B-41A0-92A1-EE5DA82FC7B1}" destId="{B55AB872-CFC2-448E-A81F-F3C329569A88}" srcOrd="0" destOrd="0" presId="urn:microsoft.com/office/officeart/2005/8/layout/vList2"/>
    <dgm:cxn modelId="{EEF6E1A9-5FD7-42FA-9B75-327FA84C2983}" type="presParOf" srcId="{D369225E-8303-4CD3-993E-2C91E9A9377C}" destId="{F1A803EB-6129-4A01-8168-494E841CCE1A}" srcOrd="0" destOrd="0" presId="urn:microsoft.com/office/officeart/2005/8/layout/vList2"/>
    <dgm:cxn modelId="{4EC8133B-D448-40E7-BCAB-FAA94C03C529}" type="presParOf" srcId="{D369225E-8303-4CD3-993E-2C91E9A9377C}" destId="{14709411-6072-491F-83E1-839FF6DDCCDC}" srcOrd="1" destOrd="0" presId="urn:microsoft.com/office/officeart/2005/8/layout/vList2"/>
    <dgm:cxn modelId="{1249FA52-E5CE-4447-8A3F-56E911D754A3}" type="presParOf" srcId="{D369225E-8303-4CD3-993E-2C91E9A9377C}" destId="{BC507B34-DFAB-47D5-8CB5-E63EC7434D75}" srcOrd="2" destOrd="0" presId="urn:microsoft.com/office/officeart/2005/8/layout/vList2"/>
    <dgm:cxn modelId="{7DD1FCB6-A823-4D29-B48A-68AB839F82AE}" type="presParOf" srcId="{D369225E-8303-4CD3-993E-2C91E9A9377C}" destId="{E16A9955-0181-4708-9640-83EA8CBD4633}" srcOrd="3" destOrd="0" presId="urn:microsoft.com/office/officeart/2005/8/layout/vList2"/>
    <dgm:cxn modelId="{76CA5E76-9F44-4D9A-B0FE-514E3C1BA0C6}" type="presParOf" srcId="{D369225E-8303-4CD3-993E-2C91E9A9377C}" destId="{B706C5F0-3B74-4E14-909C-D7165805C911}" srcOrd="4" destOrd="0" presId="urn:microsoft.com/office/officeart/2005/8/layout/vList2"/>
    <dgm:cxn modelId="{096E2F55-41BF-4DC4-A90E-021DBC345CF6}" type="presParOf" srcId="{D369225E-8303-4CD3-993E-2C91E9A9377C}" destId="{B577DE82-BE08-49D4-9AA2-97A2B7BA6107}" srcOrd="5" destOrd="0" presId="urn:microsoft.com/office/officeart/2005/8/layout/vList2"/>
    <dgm:cxn modelId="{D901F952-4D35-4AB5-B3F7-F3A4A96095CA}" type="presParOf" srcId="{D369225E-8303-4CD3-993E-2C91E9A9377C}" destId="{393486F6-C9C0-4774-97C0-DF80CB22C5C3}" srcOrd="6" destOrd="0" presId="urn:microsoft.com/office/officeart/2005/8/layout/vList2"/>
    <dgm:cxn modelId="{E6A8754B-38CA-499D-A5A1-8CC48D4AC686}" type="presParOf" srcId="{D369225E-8303-4CD3-993E-2C91E9A9377C}" destId="{44C54D43-7A67-41A7-9012-E51D672A6A5B}" srcOrd="7" destOrd="0" presId="urn:microsoft.com/office/officeart/2005/8/layout/vList2"/>
    <dgm:cxn modelId="{602A30DF-6C73-4750-B349-515E53618987}" type="presParOf" srcId="{D369225E-8303-4CD3-993E-2C91E9A9377C}" destId="{B55AB872-CFC2-448E-A81F-F3C329569A88}" srcOrd="8" destOrd="0" presId="urn:microsoft.com/office/officeart/2005/8/layout/vList2"/>
    <dgm:cxn modelId="{09335FF0-7978-41C7-84D1-4F19E17FD0DF}" type="presParOf" srcId="{D369225E-8303-4CD3-993E-2C91E9A9377C}" destId="{DFFDCAEE-CA1E-469C-A7C3-AAA54DF8E45E}" srcOrd="9" destOrd="0" presId="urn:microsoft.com/office/officeart/2005/8/layout/vList2"/>
    <dgm:cxn modelId="{2F1F80D2-7F54-4B3C-9ED6-1A33A96CF69E}" type="presParOf" srcId="{D369225E-8303-4CD3-993E-2C91E9A9377C}" destId="{75132CCF-F9DA-462A-936B-A6085D9DE991}" srcOrd="10" destOrd="0" presId="urn:microsoft.com/office/officeart/2005/8/layout/vList2"/>
    <dgm:cxn modelId="{D920048F-5F34-4C66-BA37-01C0FC46FB70}" type="presParOf" srcId="{D369225E-8303-4CD3-993E-2C91E9A9377C}" destId="{77D07D26-3ED0-4501-8CE4-AC3F79D58548}" srcOrd="11" destOrd="0" presId="urn:microsoft.com/office/officeart/2005/8/layout/vList2"/>
    <dgm:cxn modelId="{67F778D9-3A38-4D0A-9CF0-8D4C48E98AFD}" type="presParOf" srcId="{D369225E-8303-4CD3-993E-2C91E9A9377C}" destId="{5B7191D7-B6CF-468A-B764-1F69FAF5A0B4}" srcOrd="12" destOrd="0" presId="urn:microsoft.com/office/officeart/2005/8/layout/vList2"/>
    <dgm:cxn modelId="{262644BE-6952-48D2-B6BC-3CDB5537CB6D}" type="presParOf" srcId="{D369225E-8303-4CD3-993E-2C91E9A9377C}" destId="{FDD42D4B-1484-4C09-9410-1A92E353BAFF}" srcOrd="13" destOrd="0" presId="urn:microsoft.com/office/officeart/2005/8/layout/vList2"/>
    <dgm:cxn modelId="{F01C5DF8-6D38-4FE5-9004-7FC238CB0BA3}" type="presParOf" srcId="{D369225E-8303-4CD3-993E-2C91E9A9377C}" destId="{409184ED-D3F6-4808-8972-A4B378AC9F77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AE9F9D-0618-4235-9520-764B8F880CA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5A05FA-24A2-4816-B444-8B4FF34F8FC3}">
      <dgm:prSet phldrT="[Text]" phldr="0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i="0" dirty="0">
              <a:latin typeface="Segoe UI Black" panose="020B0A02040204020203" pitchFamily="34" charset="0"/>
              <a:ea typeface="Segoe UI Black" panose="020B0A02040204020203" pitchFamily="34" charset="0"/>
            </a:rPr>
            <a:t>U.S. Bureau of Labor Statistics (BLS), Federal Reserve Economic Data (FRED)</a:t>
          </a:r>
        </a:p>
      </dgm:t>
      <dgm:extLst>
        <a:ext uri="{E40237B7-FDA0-4F09-8148-C483321AD2D9}">
          <dgm14:cNvPr xmlns:dgm14="http://schemas.microsoft.com/office/drawing/2010/diagram" id="0" name="" descr="Aerial view of TV Tower Nagoya Japan"/>
        </a:ext>
      </dgm:extLst>
    </dgm:pt>
    <dgm:pt modelId="{CDBF4104-7571-4A4F-BFB6-218FFAF72F41}" type="sibTrans" cxnId="{D732CD51-2570-47D2-BCDB-FC8016AF4270}">
      <dgm:prSet/>
      <dgm:spPr/>
      <dgm:t>
        <a:bodyPr/>
        <a:lstStyle/>
        <a:p>
          <a:endParaRPr lang="en-US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A31DF470-3D96-4F2F-BF99-951DA27A50F1}" type="parTrans" cxnId="{D732CD51-2570-47D2-BCDB-FC8016AF4270}">
      <dgm:prSet/>
      <dgm:spPr/>
      <dgm:t>
        <a:bodyPr/>
        <a:lstStyle/>
        <a:p>
          <a:endParaRPr lang="en-US">
            <a:latin typeface="Segoe UI Black" panose="020B0A02040204020203" pitchFamily="34" charset="0"/>
            <a:ea typeface="Segoe UI Black" panose="020B0A02040204020203" pitchFamily="34" charset="0"/>
          </a:endParaRPr>
        </a:p>
      </dgm:t>
    </dgm:pt>
    <dgm:pt modelId="{580EEBC6-35FC-436F-BDAD-8F1673F7678B}">
      <dgm:prSet phldrT="[Text]" phldr="0" custT="1"/>
      <dgm:spPr>
        <a:gradFill flip="none" rotWithShape="0">
          <a:gsLst>
            <a:gs pos="0">
              <a:schemeClr val="accent5">
                <a:lumMod val="75000"/>
                <a:shade val="30000"/>
                <a:satMod val="115000"/>
              </a:schemeClr>
            </a:gs>
            <a:gs pos="50000">
              <a:schemeClr val="accent5">
                <a:lumMod val="75000"/>
                <a:shade val="67500"/>
                <a:satMod val="115000"/>
              </a:schemeClr>
            </a:gs>
            <a:gs pos="100000">
              <a:schemeClr val="accent5">
                <a:lumMod val="75000"/>
                <a:shade val="100000"/>
                <a:satMod val="115000"/>
              </a:schemeClr>
            </a:gs>
          </a:gsLst>
          <a:lin ang="5400000" scaled="1"/>
          <a:tileRect/>
        </a:gradFill>
      </dgm:spPr>
      <dgm:t>
        <a:bodyPr/>
        <a:lstStyle/>
        <a:p>
          <a:r>
            <a:rPr lang="en-US" sz="1400" i="1" baseline="0" dirty="0">
              <a:latin typeface="Segoe UI Black" panose="020B0A02040204020203" pitchFamily="34" charset="0"/>
              <a:ea typeface="Segoe UI Black" panose="020B0A02040204020203" pitchFamily="34" charset="0"/>
            </a:rPr>
            <a:t>Consumer Price Index for </a:t>
          </a:r>
          <a:r>
            <a:rPr lang="en-US" sz="1400" b="0" i="1" baseline="0" dirty="0">
              <a:latin typeface="Segoe UI Black" panose="020B0A02040204020203" pitchFamily="34" charset="0"/>
              <a:ea typeface="Segoe UI Black" panose="020B0A02040204020203" pitchFamily="34" charset="0"/>
            </a:rPr>
            <a:t>Housing</a:t>
          </a:r>
          <a:r>
            <a:rPr lang="en-US" sz="1400" i="1" baseline="0" dirty="0">
              <a:latin typeface="Segoe UI Black" panose="020B0A02040204020203" pitchFamily="34" charset="0"/>
              <a:ea typeface="Segoe UI Black" panose="020B0A02040204020203" pitchFamily="34" charset="0"/>
            </a:rPr>
            <a:t>: San Francisco-Oakland-Hayward (2017-2025)</a:t>
          </a:r>
        </a:p>
      </dgm:t>
      <dgm:extLst>
        <a:ext uri="{E40237B7-FDA0-4F09-8148-C483321AD2D9}">
          <dgm14:cNvPr xmlns:dgm14="http://schemas.microsoft.com/office/drawing/2010/diagram" id="0" name="" descr="Aerial view of TV Tower Nagoya Japan"/>
        </a:ext>
      </dgm:extLst>
    </dgm:pt>
    <dgm:pt modelId="{EB971119-BC61-4A56-970B-A87AD2E7FE20}" type="parTrans" cxnId="{66113E3A-9524-4D08-B72A-B76A131B20C4}">
      <dgm:prSet/>
      <dgm:spPr/>
      <dgm:t>
        <a:bodyPr/>
        <a:lstStyle/>
        <a:p>
          <a:endParaRPr lang="en-US"/>
        </a:p>
      </dgm:t>
    </dgm:pt>
    <dgm:pt modelId="{4D7B20E4-ED3D-4849-8C86-99F91ECF2935}" type="sibTrans" cxnId="{66113E3A-9524-4D08-B72A-B76A131B20C4}">
      <dgm:prSet/>
      <dgm:spPr/>
      <dgm:t>
        <a:bodyPr/>
        <a:lstStyle/>
        <a:p>
          <a:endParaRPr lang="en-US"/>
        </a:p>
      </dgm:t>
    </dgm:pt>
    <dgm:pt modelId="{B3D2D555-0556-4C90-A121-BEB251FA72B5}">
      <dgm:prSet phldrT="[Text]" phldr="0" custT="1"/>
      <dgm:spPr>
        <a:gradFill flip="none" rotWithShape="0">
          <a:gsLst>
            <a:gs pos="0">
              <a:schemeClr val="accent5">
                <a:lumMod val="75000"/>
                <a:shade val="30000"/>
                <a:satMod val="115000"/>
              </a:schemeClr>
            </a:gs>
            <a:gs pos="50000">
              <a:schemeClr val="accent5">
                <a:lumMod val="75000"/>
                <a:shade val="67500"/>
                <a:satMod val="115000"/>
              </a:schemeClr>
            </a:gs>
            <a:gs pos="100000">
              <a:schemeClr val="accent5">
                <a:lumMod val="75000"/>
                <a:shade val="100000"/>
                <a:satMod val="115000"/>
              </a:schemeClr>
            </a:gs>
          </a:gsLst>
          <a:lin ang="5400000" scaled="1"/>
          <a:tileRect/>
        </a:gradFill>
      </dgm:spPr>
      <dgm:t>
        <a:bodyPr/>
        <a:lstStyle/>
        <a:p>
          <a:r>
            <a:rPr lang="en-US" sz="1400" i="0" dirty="0">
              <a:latin typeface="Segoe UI Black" panose="020B0A02040204020203" pitchFamily="34" charset="0"/>
              <a:ea typeface="Segoe UI Black" panose="020B0A02040204020203" pitchFamily="34" charset="0"/>
            </a:rPr>
            <a:t>Source: </a:t>
          </a:r>
          <a:r>
            <a:rPr lang="en-US" sz="1400" i="1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https://fred.stlouisfed.org</a:t>
          </a:r>
          <a:endParaRPr lang="en-US" sz="1600" i="1" dirty="0">
            <a:solidFill>
              <a:schemeClr val="bg1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  <dgm:extLst>
        <a:ext uri="{E40237B7-FDA0-4F09-8148-C483321AD2D9}">
          <dgm14:cNvPr xmlns:dgm14="http://schemas.microsoft.com/office/drawing/2010/diagram" id="0" name="" descr="Aerial view of TV Tower Nagoya Japan"/>
        </a:ext>
      </dgm:extLst>
    </dgm:pt>
    <dgm:pt modelId="{E3C259E6-2EC8-4254-97B7-3A53261FD745}" type="parTrans" cxnId="{3CE4FFA3-8C1C-4DDF-879D-895ADC639EF9}">
      <dgm:prSet/>
      <dgm:spPr/>
      <dgm:t>
        <a:bodyPr/>
        <a:lstStyle/>
        <a:p>
          <a:endParaRPr lang="en-US"/>
        </a:p>
      </dgm:t>
    </dgm:pt>
    <dgm:pt modelId="{E6E43D69-04A8-44A3-9CA6-6CB7D9198B40}" type="sibTrans" cxnId="{3CE4FFA3-8C1C-4DDF-879D-895ADC639EF9}">
      <dgm:prSet/>
      <dgm:spPr/>
      <dgm:t>
        <a:bodyPr/>
        <a:lstStyle/>
        <a:p>
          <a:endParaRPr lang="en-US"/>
        </a:p>
      </dgm:t>
    </dgm:pt>
    <dgm:pt modelId="{3547BA43-DB79-4364-9E0C-897200F2A58F}">
      <dgm:prSet phldrT="[Text]" phldr="0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i="0" dirty="0">
              <a:latin typeface="Segoe UI Black" panose="020B0A02040204020203" pitchFamily="34" charset="0"/>
              <a:ea typeface="Segoe UI Black" panose="020B0A02040204020203" pitchFamily="34" charset="0"/>
            </a:rPr>
            <a:t>Zillow Research</a:t>
          </a:r>
        </a:p>
      </dgm:t>
      <dgm:extLst>
        <a:ext uri="{E40237B7-FDA0-4F09-8148-C483321AD2D9}">
          <dgm14:cNvPr xmlns:dgm14="http://schemas.microsoft.com/office/drawing/2010/diagram" id="0" name="" descr="Aerial view of TV Tower Nagoya Japan"/>
        </a:ext>
      </dgm:extLst>
    </dgm:pt>
    <dgm:pt modelId="{313C1A68-621C-4402-94FB-F862ACD6E386}" type="parTrans" cxnId="{946B512C-9F26-472E-929F-5B72750F2FF3}">
      <dgm:prSet/>
      <dgm:spPr/>
      <dgm:t>
        <a:bodyPr/>
        <a:lstStyle/>
        <a:p>
          <a:endParaRPr lang="en-US"/>
        </a:p>
      </dgm:t>
    </dgm:pt>
    <dgm:pt modelId="{ECF7DCBA-5D80-4759-93AB-8EB26DCE707F}" type="sibTrans" cxnId="{946B512C-9F26-472E-929F-5B72750F2FF3}">
      <dgm:prSet/>
      <dgm:spPr/>
      <dgm:t>
        <a:bodyPr/>
        <a:lstStyle/>
        <a:p>
          <a:endParaRPr lang="en-US"/>
        </a:p>
      </dgm:t>
    </dgm:pt>
    <dgm:pt modelId="{C3B82F5C-ADBA-4367-845A-DD1120234E2B}">
      <dgm:prSet phldrT="[Text]" phldr="0" custT="1"/>
      <dgm:spPr>
        <a:gradFill flip="none" rotWithShape="0">
          <a:gsLst>
            <a:gs pos="0">
              <a:schemeClr val="accent5">
                <a:lumMod val="75000"/>
                <a:shade val="30000"/>
                <a:satMod val="115000"/>
              </a:schemeClr>
            </a:gs>
            <a:gs pos="50000">
              <a:schemeClr val="accent5">
                <a:lumMod val="75000"/>
                <a:shade val="67500"/>
                <a:satMod val="115000"/>
              </a:schemeClr>
            </a:gs>
            <a:gs pos="100000">
              <a:schemeClr val="accent5">
                <a:lumMod val="75000"/>
                <a:shade val="100000"/>
                <a:satMod val="115000"/>
              </a:schemeClr>
            </a:gs>
          </a:gsLst>
          <a:lin ang="5400000" scaled="1"/>
          <a:tileRect/>
        </a:gradFill>
      </dgm:spPr>
      <dgm:t>
        <a:bodyPr/>
        <a:lstStyle/>
        <a:p>
          <a:r>
            <a:rPr lang="en-US" sz="1400" i="1" dirty="0">
              <a:latin typeface="Segoe UI Black" panose="020B0A02040204020203" pitchFamily="34" charset="0"/>
              <a:ea typeface="Segoe UI Black" panose="020B0A02040204020203" pitchFamily="34" charset="0"/>
            </a:rPr>
            <a:t>Zillow Home Value Index, San Francisco-Oakland-Hayward Metro Area (2017-2025)</a:t>
          </a:r>
        </a:p>
      </dgm:t>
      <dgm:extLst>
        <a:ext uri="{E40237B7-FDA0-4F09-8148-C483321AD2D9}">
          <dgm14:cNvPr xmlns:dgm14="http://schemas.microsoft.com/office/drawing/2010/diagram" id="0" name="" descr="Aerial view of TV Tower Nagoya Japan"/>
        </a:ext>
      </dgm:extLst>
    </dgm:pt>
    <dgm:pt modelId="{63EFD762-5D01-447A-B02F-0D77038C61B0}" type="parTrans" cxnId="{E983ACDF-1A7A-4036-8999-93B27380814C}">
      <dgm:prSet/>
      <dgm:spPr/>
      <dgm:t>
        <a:bodyPr/>
        <a:lstStyle/>
        <a:p>
          <a:endParaRPr lang="en-US"/>
        </a:p>
      </dgm:t>
    </dgm:pt>
    <dgm:pt modelId="{C78AEE51-CBD5-408C-AF0E-2F58112A76AA}" type="sibTrans" cxnId="{E983ACDF-1A7A-4036-8999-93B27380814C}">
      <dgm:prSet/>
      <dgm:spPr/>
      <dgm:t>
        <a:bodyPr/>
        <a:lstStyle/>
        <a:p>
          <a:endParaRPr lang="en-US"/>
        </a:p>
      </dgm:t>
    </dgm:pt>
    <dgm:pt modelId="{38C2404E-C3AB-41ED-B65A-F2E040AB410C}">
      <dgm:prSet phldrT="[Text]" phldr="0" custT="1"/>
      <dgm:spPr>
        <a:gradFill flip="none" rotWithShape="0">
          <a:gsLst>
            <a:gs pos="0">
              <a:schemeClr val="accent5">
                <a:lumMod val="75000"/>
                <a:shade val="30000"/>
                <a:satMod val="115000"/>
              </a:schemeClr>
            </a:gs>
            <a:gs pos="50000">
              <a:schemeClr val="accent5">
                <a:lumMod val="75000"/>
                <a:shade val="67500"/>
                <a:satMod val="115000"/>
              </a:schemeClr>
            </a:gs>
            <a:gs pos="100000">
              <a:schemeClr val="accent5">
                <a:lumMod val="75000"/>
                <a:shade val="100000"/>
                <a:satMod val="115000"/>
              </a:schemeClr>
            </a:gs>
          </a:gsLst>
          <a:lin ang="5400000" scaled="1"/>
          <a:tileRect/>
        </a:gradFill>
      </dgm:spPr>
      <dgm:t>
        <a:bodyPr/>
        <a:lstStyle/>
        <a:p>
          <a:r>
            <a:rPr lang="en-US" sz="1400" i="0" dirty="0">
              <a:latin typeface="Segoe UI Black" panose="020B0A02040204020203" pitchFamily="34" charset="0"/>
              <a:ea typeface="Segoe UI Black" panose="020B0A02040204020203" pitchFamily="34" charset="0"/>
            </a:rPr>
            <a:t>Source: </a:t>
          </a:r>
          <a:r>
            <a:rPr lang="en-US" sz="1400" i="1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https://www.Zillow.com/research/data</a:t>
          </a:r>
          <a:endParaRPr lang="en-US" sz="1400" i="1" dirty="0">
            <a:solidFill>
              <a:schemeClr val="bg1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gm:t>
      <dgm:extLst>
        <a:ext uri="{E40237B7-FDA0-4F09-8148-C483321AD2D9}">
          <dgm14:cNvPr xmlns:dgm14="http://schemas.microsoft.com/office/drawing/2010/diagram" id="0" name="" descr="Aerial view of TV Tower Nagoya Japan"/>
        </a:ext>
      </dgm:extLst>
    </dgm:pt>
    <dgm:pt modelId="{0F580B55-50C5-4E1C-911B-26A7415EF85B}" type="parTrans" cxnId="{291A2F8E-6226-4735-9A81-F69CAECDC2D3}">
      <dgm:prSet/>
      <dgm:spPr/>
      <dgm:t>
        <a:bodyPr/>
        <a:lstStyle/>
        <a:p>
          <a:endParaRPr lang="en-US"/>
        </a:p>
      </dgm:t>
    </dgm:pt>
    <dgm:pt modelId="{F0ED985D-8291-4A5F-9954-2FA45E72EDD1}" type="sibTrans" cxnId="{291A2F8E-6226-4735-9A81-F69CAECDC2D3}">
      <dgm:prSet/>
      <dgm:spPr/>
      <dgm:t>
        <a:bodyPr/>
        <a:lstStyle/>
        <a:p>
          <a:endParaRPr lang="en-US"/>
        </a:p>
      </dgm:t>
    </dgm:pt>
    <dgm:pt modelId="{E1F2F5ED-FB9C-49F1-ABAB-A4435A33A1B8}">
      <dgm:prSet phldrT="[Text]" phldr="0" custT="1"/>
      <dgm:spPr>
        <a:solidFill>
          <a:schemeClr val="bg1"/>
        </a:solidFill>
      </dgm:spPr>
      <dgm:t>
        <a:bodyPr/>
        <a:lstStyle/>
        <a:p>
          <a:endParaRPr lang="en-US" sz="1600" i="1" dirty="0">
            <a:latin typeface="Segoe UI Black" panose="020B0A02040204020203" pitchFamily="34" charset="0"/>
            <a:ea typeface="Segoe UI Black" panose="020B0A02040204020203" pitchFamily="34" charset="0"/>
          </a:endParaRPr>
        </a:p>
      </dgm:t>
      <dgm:extLst>
        <a:ext uri="{E40237B7-FDA0-4F09-8148-C483321AD2D9}">
          <dgm14:cNvPr xmlns:dgm14="http://schemas.microsoft.com/office/drawing/2010/diagram" id="0" name="" descr="Aerial view of TV Tower Nagoya Japan"/>
        </a:ext>
      </dgm:extLst>
    </dgm:pt>
    <dgm:pt modelId="{73804223-C20A-43BB-908A-D21CAE8EEFDD}" type="parTrans" cxnId="{EC6D3E8D-EFD5-45D5-8D82-BD0DE9AFB61E}">
      <dgm:prSet/>
      <dgm:spPr/>
      <dgm:t>
        <a:bodyPr/>
        <a:lstStyle/>
        <a:p>
          <a:endParaRPr lang="en-US"/>
        </a:p>
      </dgm:t>
    </dgm:pt>
    <dgm:pt modelId="{B7813D7A-3D54-4F6B-A13B-7BC0B9F78813}" type="sibTrans" cxnId="{EC6D3E8D-EFD5-45D5-8D82-BD0DE9AFB61E}">
      <dgm:prSet/>
      <dgm:spPr/>
      <dgm:t>
        <a:bodyPr/>
        <a:lstStyle/>
        <a:p>
          <a:endParaRPr lang="en-US"/>
        </a:p>
      </dgm:t>
    </dgm:pt>
    <dgm:pt modelId="{D369225E-8303-4CD3-993E-2C91E9A9377C}" type="pres">
      <dgm:prSet presAssocID="{67AE9F9D-0618-4235-9520-764B8F880CAF}" presName="linear" presStyleCnt="0">
        <dgm:presLayoutVars>
          <dgm:animLvl val="lvl"/>
          <dgm:resizeHandles val="exact"/>
        </dgm:presLayoutVars>
      </dgm:prSet>
      <dgm:spPr/>
    </dgm:pt>
    <dgm:pt modelId="{F1A803EB-6129-4A01-8168-494E841CCE1A}" type="pres">
      <dgm:prSet presAssocID="{F65A05FA-24A2-4816-B444-8B4FF34F8FC3}" presName="parentText" presStyleLbl="node1" presStyleIdx="0" presStyleCnt="7" custLinFactNeighborX="1258" custLinFactNeighborY="-7858">
        <dgm:presLayoutVars>
          <dgm:chMax val="0"/>
          <dgm:bulletEnabled val="1"/>
        </dgm:presLayoutVars>
      </dgm:prSet>
      <dgm:spPr/>
    </dgm:pt>
    <dgm:pt modelId="{460A808B-9DDA-4F5E-8509-A0436A79588B}" type="pres">
      <dgm:prSet presAssocID="{CDBF4104-7571-4A4F-BFB6-218FFAF72F41}" presName="spacer" presStyleCnt="0"/>
      <dgm:spPr/>
    </dgm:pt>
    <dgm:pt modelId="{D9B27EAC-E62D-4C84-B2E8-A5DBB6C969B5}" type="pres">
      <dgm:prSet presAssocID="{580EEBC6-35FC-436F-BDAD-8F1673F7678B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F0DA43D3-E31C-4C07-AC8C-568C2B8FFEB3}" type="pres">
      <dgm:prSet presAssocID="{4D7B20E4-ED3D-4849-8C86-99F91ECF2935}" presName="spacer" presStyleCnt="0"/>
      <dgm:spPr/>
    </dgm:pt>
    <dgm:pt modelId="{A3F14549-0F22-47D5-9D69-3AA7716CE649}" type="pres">
      <dgm:prSet presAssocID="{B3D2D555-0556-4C90-A121-BEB251FA72B5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D873C1FE-8852-4DC3-860A-260765926D19}" type="pres">
      <dgm:prSet presAssocID="{E6E43D69-04A8-44A3-9CA6-6CB7D9198B40}" presName="spacer" presStyleCnt="0"/>
      <dgm:spPr/>
    </dgm:pt>
    <dgm:pt modelId="{89619960-DD65-430B-A5B1-F49E03552622}" type="pres">
      <dgm:prSet presAssocID="{E1F2F5ED-FB9C-49F1-ABAB-A4435A33A1B8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A085AB16-413A-46D7-9CA0-67629E1E689F}" type="pres">
      <dgm:prSet presAssocID="{B7813D7A-3D54-4F6B-A13B-7BC0B9F78813}" presName="spacer" presStyleCnt="0"/>
      <dgm:spPr/>
    </dgm:pt>
    <dgm:pt modelId="{8ACF6BC3-282F-4F9C-8DAD-47A9AA90839A}" type="pres">
      <dgm:prSet presAssocID="{3547BA43-DB79-4364-9E0C-897200F2A58F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55D688BC-EA1A-45EB-BC79-91AF948414BB}" type="pres">
      <dgm:prSet presAssocID="{ECF7DCBA-5D80-4759-93AB-8EB26DCE707F}" presName="spacer" presStyleCnt="0"/>
      <dgm:spPr/>
    </dgm:pt>
    <dgm:pt modelId="{D31E896A-01FA-47F0-856F-2CBC31448D66}" type="pres">
      <dgm:prSet presAssocID="{C3B82F5C-ADBA-4367-845A-DD1120234E2B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A6ED732B-215F-48F1-9F1C-20E33B0CDFA0}" type="pres">
      <dgm:prSet presAssocID="{C78AEE51-CBD5-408C-AF0E-2F58112A76AA}" presName="spacer" presStyleCnt="0"/>
      <dgm:spPr/>
    </dgm:pt>
    <dgm:pt modelId="{D7059ACA-187F-43DE-9EBE-EB179CC55CE9}" type="pres">
      <dgm:prSet presAssocID="{38C2404E-C3AB-41ED-B65A-F2E040AB410C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E54BEE0F-1E72-4E06-B282-CC6126570E55}" type="presOf" srcId="{B3D2D555-0556-4C90-A121-BEB251FA72B5}" destId="{A3F14549-0F22-47D5-9D69-3AA7716CE649}" srcOrd="0" destOrd="0" presId="urn:microsoft.com/office/officeart/2005/8/layout/vList2"/>
    <dgm:cxn modelId="{F8B5BB22-5EAC-4B56-B5DA-EB7550F30652}" type="presOf" srcId="{580EEBC6-35FC-436F-BDAD-8F1673F7678B}" destId="{D9B27EAC-E62D-4C84-B2E8-A5DBB6C969B5}" srcOrd="0" destOrd="0" presId="urn:microsoft.com/office/officeart/2005/8/layout/vList2"/>
    <dgm:cxn modelId="{946B512C-9F26-472E-929F-5B72750F2FF3}" srcId="{67AE9F9D-0618-4235-9520-764B8F880CAF}" destId="{3547BA43-DB79-4364-9E0C-897200F2A58F}" srcOrd="4" destOrd="0" parTransId="{313C1A68-621C-4402-94FB-F862ACD6E386}" sibTransId="{ECF7DCBA-5D80-4759-93AB-8EB26DCE707F}"/>
    <dgm:cxn modelId="{66113E3A-9524-4D08-B72A-B76A131B20C4}" srcId="{67AE9F9D-0618-4235-9520-764B8F880CAF}" destId="{580EEBC6-35FC-436F-BDAD-8F1673F7678B}" srcOrd="1" destOrd="0" parTransId="{EB971119-BC61-4A56-970B-A87AD2E7FE20}" sibTransId="{4D7B20E4-ED3D-4849-8C86-99F91ECF2935}"/>
    <dgm:cxn modelId="{D732CD51-2570-47D2-BCDB-FC8016AF4270}" srcId="{67AE9F9D-0618-4235-9520-764B8F880CAF}" destId="{F65A05FA-24A2-4816-B444-8B4FF34F8FC3}" srcOrd="0" destOrd="0" parTransId="{A31DF470-3D96-4F2F-BF99-951DA27A50F1}" sibTransId="{CDBF4104-7571-4A4F-BFB6-218FFAF72F41}"/>
    <dgm:cxn modelId="{EC6D3E8D-EFD5-45D5-8D82-BD0DE9AFB61E}" srcId="{67AE9F9D-0618-4235-9520-764B8F880CAF}" destId="{E1F2F5ED-FB9C-49F1-ABAB-A4435A33A1B8}" srcOrd="3" destOrd="0" parTransId="{73804223-C20A-43BB-908A-D21CAE8EEFDD}" sibTransId="{B7813D7A-3D54-4F6B-A13B-7BC0B9F78813}"/>
    <dgm:cxn modelId="{291A2F8E-6226-4735-9A81-F69CAECDC2D3}" srcId="{67AE9F9D-0618-4235-9520-764B8F880CAF}" destId="{38C2404E-C3AB-41ED-B65A-F2E040AB410C}" srcOrd="6" destOrd="0" parTransId="{0F580B55-50C5-4E1C-911B-26A7415EF85B}" sibTransId="{F0ED985D-8291-4A5F-9954-2FA45E72EDD1}"/>
    <dgm:cxn modelId="{A67CE299-25B9-41A0-AEEF-3BDE86B0DBA9}" type="presOf" srcId="{67AE9F9D-0618-4235-9520-764B8F880CAF}" destId="{D369225E-8303-4CD3-993E-2C91E9A9377C}" srcOrd="0" destOrd="0" presId="urn:microsoft.com/office/officeart/2005/8/layout/vList2"/>
    <dgm:cxn modelId="{3CE4FFA3-8C1C-4DDF-879D-895ADC639EF9}" srcId="{67AE9F9D-0618-4235-9520-764B8F880CAF}" destId="{B3D2D555-0556-4C90-A121-BEB251FA72B5}" srcOrd="2" destOrd="0" parTransId="{E3C259E6-2EC8-4254-97B7-3A53261FD745}" sibTransId="{E6E43D69-04A8-44A3-9CA6-6CB7D9198B40}"/>
    <dgm:cxn modelId="{A1CBE0A5-21B3-4918-989D-4B953367AE29}" type="presOf" srcId="{38C2404E-C3AB-41ED-B65A-F2E040AB410C}" destId="{D7059ACA-187F-43DE-9EBE-EB179CC55CE9}" srcOrd="0" destOrd="0" presId="urn:microsoft.com/office/officeart/2005/8/layout/vList2"/>
    <dgm:cxn modelId="{5728BDCE-1855-4928-AE1E-046BE6851940}" type="presOf" srcId="{E1F2F5ED-FB9C-49F1-ABAB-A4435A33A1B8}" destId="{89619960-DD65-430B-A5B1-F49E03552622}" srcOrd="0" destOrd="0" presId="urn:microsoft.com/office/officeart/2005/8/layout/vList2"/>
    <dgm:cxn modelId="{E983ACDF-1A7A-4036-8999-93B27380814C}" srcId="{67AE9F9D-0618-4235-9520-764B8F880CAF}" destId="{C3B82F5C-ADBA-4367-845A-DD1120234E2B}" srcOrd="5" destOrd="0" parTransId="{63EFD762-5D01-447A-B02F-0D77038C61B0}" sibTransId="{C78AEE51-CBD5-408C-AF0E-2F58112A76AA}"/>
    <dgm:cxn modelId="{F58659E4-4D5D-4530-90B0-0026A9CEA0EC}" type="presOf" srcId="{F65A05FA-24A2-4816-B444-8B4FF34F8FC3}" destId="{F1A803EB-6129-4A01-8168-494E841CCE1A}" srcOrd="0" destOrd="0" presId="urn:microsoft.com/office/officeart/2005/8/layout/vList2"/>
    <dgm:cxn modelId="{6DBB8BED-3703-4EAE-A1DF-A3369147CDD4}" type="presOf" srcId="{C3B82F5C-ADBA-4367-845A-DD1120234E2B}" destId="{D31E896A-01FA-47F0-856F-2CBC31448D66}" srcOrd="0" destOrd="0" presId="urn:microsoft.com/office/officeart/2005/8/layout/vList2"/>
    <dgm:cxn modelId="{70D277FD-53F7-4553-8878-029AA05A8152}" type="presOf" srcId="{3547BA43-DB79-4364-9E0C-897200F2A58F}" destId="{8ACF6BC3-282F-4F9C-8DAD-47A9AA90839A}" srcOrd="0" destOrd="0" presId="urn:microsoft.com/office/officeart/2005/8/layout/vList2"/>
    <dgm:cxn modelId="{05DBD64A-B9B2-4E18-A23E-4F8ABB813438}" type="presParOf" srcId="{D369225E-8303-4CD3-993E-2C91E9A9377C}" destId="{F1A803EB-6129-4A01-8168-494E841CCE1A}" srcOrd="0" destOrd="0" presId="urn:microsoft.com/office/officeart/2005/8/layout/vList2"/>
    <dgm:cxn modelId="{A795877C-7181-40E2-B173-3584BCAA8904}" type="presParOf" srcId="{D369225E-8303-4CD3-993E-2C91E9A9377C}" destId="{460A808B-9DDA-4F5E-8509-A0436A79588B}" srcOrd="1" destOrd="0" presId="urn:microsoft.com/office/officeart/2005/8/layout/vList2"/>
    <dgm:cxn modelId="{99F36B17-F577-4F85-B176-93DF69D8F0F4}" type="presParOf" srcId="{D369225E-8303-4CD3-993E-2C91E9A9377C}" destId="{D9B27EAC-E62D-4C84-B2E8-A5DBB6C969B5}" srcOrd="2" destOrd="0" presId="urn:microsoft.com/office/officeart/2005/8/layout/vList2"/>
    <dgm:cxn modelId="{70A1FAFF-3E76-462B-B74E-F73826F7B756}" type="presParOf" srcId="{D369225E-8303-4CD3-993E-2C91E9A9377C}" destId="{F0DA43D3-E31C-4C07-AC8C-568C2B8FFEB3}" srcOrd="3" destOrd="0" presId="urn:microsoft.com/office/officeart/2005/8/layout/vList2"/>
    <dgm:cxn modelId="{DB5C8421-CB72-443C-92F9-CFC80EFA67D7}" type="presParOf" srcId="{D369225E-8303-4CD3-993E-2C91E9A9377C}" destId="{A3F14549-0F22-47D5-9D69-3AA7716CE649}" srcOrd="4" destOrd="0" presId="urn:microsoft.com/office/officeart/2005/8/layout/vList2"/>
    <dgm:cxn modelId="{696715BC-F899-44CC-A933-DEC1BC412795}" type="presParOf" srcId="{D369225E-8303-4CD3-993E-2C91E9A9377C}" destId="{D873C1FE-8852-4DC3-860A-260765926D19}" srcOrd="5" destOrd="0" presId="urn:microsoft.com/office/officeart/2005/8/layout/vList2"/>
    <dgm:cxn modelId="{F90B2906-5A6F-4989-824B-D2FF3AFABE2B}" type="presParOf" srcId="{D369225E-8303-4CD3-993E-2C91E9A9377C}" destId="{89619960-DD65-430B-A5B1-F49E03552622}" srcOrd="6" destOrd="0" presId="urn:microsoft.com/office/officeart/2005/8/layout/vList2"/>
    <dgm:cxn modelId="{31B4782E-C099-476D-8C06-FBE18F3BD254}" type="presParOf" srcId="{D369225E-8303-4CD3-993E-2C91E9A9377C}" destId="{A085AB16-413A-46D7-9CA0-67629E1E689F}" srcOrd="7" destOrd="0" presId="urn:microsoft.com/office/officeart/2005/8/layout/vList2"/>
    <dgm:cxn modelId="{5DEEF203-00A8-41DB-8914-8C325DCF38D7}" type="presParOf" srcId="{D369225E-8303-4CD3-993E-2C91E9A9377C}" destId="{8ACF6BC3-282F-4F9C-8DAD-47A9AA90839A}" srcOrd="8" destOrd="0" presId="urn:microsoft.com/office/officeart/2005/8/layout/vList2"/>
    <dgm:cxn modelId="{0E5ECD5A-0EC0-46E5-9467-3EBDD9AF7BAE}" type="presParOf" srcId="{D369225E-8303-4CD3-993E-2C91E9A9377C}" destId="{55D688BC-EA1A-45EB-BC79-91AF948414BB}" srcOrd="9" destOrd="0" presId="urn:microsoft.com/office/officeart/2005/8/layout/vList2"/>
    <dgm:cxn modelId="{357E14A0-CF66-4B5D-8C72-798DF9F010E9}" type="presParOf" srcId="{D369225E-8303-4CD3-993E-2C91E9A9377C}" destId="{D31E896A-01FA-47F0-856F-2CBC31448D66}" srcOrd="10" destOrd="0" presId="urn:microsoft.com/office/officeart/2005/8/layout/vList2"/>
    <dgm:cxn modelId="{639892F5-D0B1-4EE6-AEF4-845A6F20F376}" type="presParOf" srcId="{D369225E-8303-4CD3-993E-2C91E9A9377C}" destId="{A6ED732B-215F-48F1-9F1C-20E33B0CDFA0}" srcOrd="11" destOrd="0" presId="urn:microsoft.com/office/officeart/2005/8/layout/vList2"/>
    <dgm:cxn modelId="{7C38FB4F-DB02-4DDD-9ACB-C5E5EAF22693}" type="presParOf" srcId="{D369225E-8303-4CD3-993E-2C91E9A9377C}" destId="{D7059ACA-187F-43DE-9EBE-EB179CC55CE9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A803EB-6129-4A01-8168-494E841CCE1A}">
      <dsp:nvSpPr>
        <dsp:cNvPr id="0" name=""/>
        <dsp:cNvSpPr/>
      </dsp:nvSpPr>
      <dsp:spPr>
        <a:xfrm>
          <a:off x="0" y="54365"/>
          <a:ext cx="5273645" cy="521234"/>
        </a:xfrm>
        <a:prstGeom prst="roundRect">
          <a:avLst/>
        </a:prstGeom>
        <a:gradFill flip="none" rotWithShape="0">
          <a:gsLst>
            <a:gs pos="0">
              <a:schemeClr val="accent5">
                <a:lumMod val="75000"/>
                <a:shade val="30000"/>
                <a:satMod val="115000"/>
              </a:schemeClr>
            </a:gs>
            <a:gs pos="50000">
              <a:schemeClr val="accent5">
                <a:lumMod val="75000"/>
                <a:shade val="67500"/>
                <a:satMod val="115000"/>
              </a:schemeClr>
            </a:gs>
            <a:gs pos="100000">
              <a:schemeClr val="accent5">
                <a:lumMod val="75000"/>
                <a:shade val="100000"/>
                <a:satMod val="115000"/>
              </a:schemeClr>
            </a:gs>
          </a:gsLst>
          <a:lin ang="54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 dirty="0">
              <a:latin typeface="Segoe UI Black" panose="020B0A02040204020203" pitchFamily="34" charset="0"/>
              <a:ea typeface="Segoe UI Black" panose="020B0A02040204020203" pitchFamily="34" charset="0"/>
            </a:rPr>
            <a:t>Bay Area Housing Market Data Modeling </a:t>
          </a:r>
        </a:p>
      </dsp:txBody>
      <dsp:txXfrm>
        <a:off x="25445" y="79810"/>
        <a:ext cx="5222755" cy="470344"/>
      </dsp:txXfrm>
    </dsp:sp>
    <dsp:sp modelId="{BC507B34-DFAB-47D5-8CB5-E63EC7434D75}">
      <dsp:nvSpPr>
        <dsp:cNvPr id="0" name=""/>
        <dsp:cNvSpPr/>
      </dsp:nvSpPr>
      <dsp:spPr>
        <a:xfrm>
          <a:off x="0" y="612876"/>
          <a:ext cx="5273645" cy="521234"/>
        </a:xfrm>
        <a:prstGeom prst="roundRect">
          <a:avLst/>
        </a:prstGeom>
        <a:gradFill flip="none" rotWithShape="0">
          <a:gsLst>
            <a:gs pos="0">
              <a:schemeClr val="accent1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1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27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Segoe UI Black" panose="020B0A02040204020203" pitchFamily="34" charset="0"/>
              <a:ea typeface="Segoe UI Black" panose="020B0A02040204020203" pitchFamily="34" charset="0"/>
            </a:rPr>
            <a:t>Table of Contents</a:t>
          </a:r>
          <a:br>
            <a:rPr lang="en-US" sz="1200" kern="1200">
              <a:latin typeface="Segoe UI Black" panose="020B0A02040204020203" pitchFamily="34" charset="0"/>
              <a:ea typeface="Segoe UI Black" panose="020B0A02040204020203" pitchFamily="34" charset="0"/>
            </a:rPr>
          </a:br>
          <a:r>
            <a:rPr lang="en-US" sz="1200" kern="1200">
              <a:latin typeface="Segoe UI Black" panose="020B0A02040204020203" pitchFamily="34" charset="0"/>
              <a:ea typeface="Segoe UI Black" panose="020B0A02040204020203" pitchFamily="34" charset="0"/>
            </a:rPr>
            <a:t>2</a:t>
          </a:r>
          <a:endParaRPr lang="en-US" sz="1200" kern="1200" dirty="0"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25445" y="638321"/>
        <a:ext cx="5222755" cy="470344"/>
      </dsp:txXfrm>
    </dsp:sp>
    <dsp:sp modelId="{B706C5F0-3B74-4E14-909C-D7165805C911}">
      <dsp:nvSpPr>
        <dsp:cNvPr id="0" name=""/>
        <dsp:cNvSpPr/>
      </dsp:nvSpPr>
      <dsp:spPr>
        <a:xfrm>
          <a:off x="0" y="1168671"/>
          <a:ext cx="5273645" cy="521234"/>
        </a:xfrm>
        <a:prstGeom prst="roundRect">
          <a:avLst/>
        </a:prstGeom>
        <a:gradFill flip="none" rotWithShape="0">
          <a:gsLst>
            <a:gs pos="0">
              <a:schemeClr val="accent1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1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54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Segoe UI Black" panose="020B0A02040204020203" pitchFamily="34" charset="0"/>
              <a:ea typeface="Segoe UI Black" panose="020B0A02040204020203" pitchFamily="34" charset="0"/>
            </a:rPr>
            <a:t>Overview</a:t>
          </a:r>
          <a:br>
            <a:rPr lang="en-US" sz="1200" kern="1200" dirty="0">
              <a:latin typeface="Segoe UI Black" panose="020B0A02040204020203" pitchFamily="34" charset="0"/>
              <a:ea typeface="Segoe UI Black" panose="020B0A02040204020203" pitchFamily="34" charset="0"/>
            </a:rPr>
          </a:br>
          <a:r>
            <a:rPr lang="en-US" sz="1200" kern="1200" dirty="0">
              <a:latin typeface="Segoe UI Black" panose="020B0A02040204020203" pitchFamily="34" charset="0"/>
              <a:ea typeface="Segoe UI Black" panose="020B0A02040204020203" pitchFamily="34" charset="0"/>
            </a:rPr>
            <a:t>3</a:t>
          </a:r>
        </a:p>
      </dsp:txBody>
      <dsp:txXfrm>
        <a:off x="25445" y="1194116"/>
        <a:ext cx="5222755" cy="470344"/>
      </dsp:txXfrm>
    </dsp:sp>
    <dsp:sp modelId="{393486F6-C9C0-4774-97C0-DF80CB22C5C3}">
      <dsp:nvSpPr>
        <dsp:cNvPr id="0" name=""/>
        <dsp:cNvSpPr/>
      </dsp:nvSpPr>
      <dsp:spPr>
        <a:xfrm>
          <a:off x="0" y="1724466"/>
          <a:ext cx="5273645" cy="521234"/>
        </a:xfrm>
        <a:prstGeom prst="roundRect">
          <a:avLst/>
        </a:prstGeom>
        <a:gradFill flip="none" rotWithShape="0">
          <a:gsLst>
            <a:gs pos="0">
              <a:schemeClr val="accent1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1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shade val="100000"/>
                <a:satMod val="115000"/>
              </a:schemeClr>
            </a:gs>
          </a:gsLst>
          <a:lin ang="81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Segoe UI Black" panose="020B0A02040204020203" pitchFamily="34" charset="0"/>
              <a:ea typeface="Segoe UI Black" panose="020B0A02040204020203" pitchFamily="34" charset="0"/>
            </a:rPr>
            <a:t>Key Analysis</a:t>
          </a:r>
          <a:br>
            <a:rPr lang="en-US" sz="1200" kern="1200" dirty="0">
              <a:latin typeface="Segoe UI Black" panose="020B0A02040204020203" pitchFamily="34" charset="0"/>
              <a:ea typeface="Segoe UI Black" panose="020B0A02040204020203" pitchFamily="34" charset="0"/>
            </a:rPr>
          </a:br>
          <a:r>
            <a:rPr lang="en-US" sz="1200" kern="1200" dirty="0">
              <a:latin typeface="Segoe UI Black" panose="020B0A02040204020203" pitchFamily="34" charset="0"/>
              <a:ea typeface="Segoe UI Black" panose="020B0A02040204020203" pitchFamily="34" charset="0"/>
            </a:rPr>
            <a:t>4</a:t>
          </a:r>
        </a:p>
      </dsp:txBody>
      <dsp:txXfrm>
        <a:off x="25445" y="1749911"/>
        <a:ext cx="5222755" cy="470344"/>
      </dsp:txXfrm>
    </dsp:sp>
    <dsp:sp modelId="{B55AB872-CFC2-448E-A81F-F3C329569A88}">
      <dsp:nvSpPr>
        <dsp:cNvPr id="0" name=""/>
        <dsp:cNvSpPr/>
      </dsp:nvSpPr>
      <dsp:spPr>
        <a:xfrm>
          <a:off x="0" y="2280261"/>
          <a:ext cx="5273645" cy="521234"/>
        </a:xfrm>
        <a:prstGeom prst="roundRect">
          <a:avLst/>
        </a:prstGeom>
        <a:gradFill flip="none" rotWithShape="0">
          <a:gsLst>
            <a:gs pos="0">
              <a:schemeClr val="accent1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1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shade val="100000"/>
                <a:satMod val="115000"/>
              </a:schemeClr>
            </a:gs>
          </a:gsLst>
          <a:path path="circle">
            <a:fillToRect l="100000" t="100000"/>
          </a:path>
          <a:tileRect r="-100000" b="-100000"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Segoe UI Black" panose="020B0A02040204020203" pitchFamily="34" charset="0"/>
              <a:ea typeface="Segoe UI Black" panose="020B0A02040204020203" pitchFamily="34" charset="0"/>
            </a:rPr>
            <a:t>Regression Analysis</a:t>
          </a:r>
          <a:br>
            <a:rPr lang="en-US" sz="1200" kern="1200" dirty="0">
              <a:latin typeface="Segoe UI Black" panose="020B0A02040204020203" pitchFamily="34" charset="0"/>
              <a:ea typeface="Segoe UI Black" panose="020B0A02040204020203" pitchFamily="34" charset="0"/>
            </a:rPr>
          </a:br>
          <a:r>
            <a:rPr lang="en-US" sz="1200" kern="1200" dirty="0">
              <a:latin typeface="Segoe UI Black" panose="020B0A02040204020203" pitchFamily="34" charset="0"/>
              <a:ea typeface="Segoe UI Black" panose="020B0A02040204020203" pitchFamily="34" charset="0"/>
            </a:rPr>
            <a:t>5</a:t>
          </a:r>
        </a:p>
      </dsp:txBody>
      <dsp:txXfrm>
        <a:off x="25445" y="2305706"/>
        <a:ext cx="5222755" cy="470344"/>
      </dsp:txXfrm>
    </dsp:sp>
    <dsp:sp modelId="{75132CCF-F9DA-462A-936B-A6085D9DE991}">
      <dsp:nvSpPr>
        <dsp:cNvPr id="0" name=""/>
        <dsp:cNvSpPr/>
      </dsp:nvSpPr>
      <dsp:spPr>
        <a:xfrm>
          <a:off x="0" y="2836056"/>
          <a:ext cx="5273645" cy="521234"/>
        </a:xfrm>
        <a:prstGeom prst="roundRect">
          <a:avLst/>
        </a:prstGeom>
        <a:gradFill flip="none" rotWithShape="0">
          <a:gsLst>
            <a:gs pos="0">
              <a:schemeClr val="accent1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1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shade val="100000"/>
                <a:satMod val="115000"/>
              </a:schemeClr>
            </a:gs>
          </a:gsLst>
          <a:path path="circle">
            <a:fillToRect t="100000" r="100000"/>
          </a:path>
          <a:tileRect l="-100000" b="-100000"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Segoe UI Black" panose="020B0A02040204020203" pitchFamily="34" charset="0"/>
              <a:ea typeface="Segoe UI Black" panose="020B0A02040204020203" pitchFamily="34" charset="0"/>
            </a:rPr>
            <a:t>Strategic Implications</a:t>
          </a:r>
          <a:br>
            <a:rPr lang="en-US" sz="1200" kern="1200" dirty="0">
              <a:latin typeface="Segoe UI Black" panose="020B0A02040204020203" pitchFamily="34" charset="0"/>
              <a:ea typeface="Segoe UI Black" panose="020B0A02040204020203" pitchFamily="34" charset="0"/>
            </a:rPr>
          </a:br>
          <a:r>
            <a:rPr lang="en-US" sz="1200" kern="1200" dirty="0">
              <a:latin typeface="Segoe UI Black" panose="020B0A02040204020203" pitchFamily="34" charset="0"/>
              <a:ea typeface="Segoe UI Black" panose="020B0A02040204020203" pitchFamily="34" charset="0"/>
            </a:rPr>
            <a:t>6</a:t>
          </a:r>
        </a:p>
      </dsp:txBody>
      <dsp:txXfrm>
        <a:off x="25445" y="2861501"/>
        <a:ext cx="5222755" cy="470344"/>
      </dsp:txXfrm>
    </dsp:sp>
    <dsp:sp modelId="{5B7191D7-B6CF-468A-B764-1F69FAF5A0B4}">
      <dsp:nvSpPr>
        <dsp:cNvPr id="0" name=""/>
        <dsp:cNvSpPr/>
      </dsp:nvSpPr>
      <dsp:spPr>
        <a:xfrm>
          <a:off x="0" y="3391851"/>
          <a:ext cx="5273645" cy="521234"/>
        </a:xfrm>
        <a:prstGeom prst="roundRect">
          <a:avLst/>
        </a:prstGeom>
        <a:gradFill flip="none" rotWithShape="0">
          <a:gsLst>
            <a:gs pos="0">
              <a:schemeClr val="accent1">
                <a:hueOff val="0"/>
                <a:satOff val="0"/>
                <a:lumOff val="0"/>
                <a:shade val="30000"/>
                <a:satMod val="115000"/>
              </a:schemeClr>
            </a:gs>
            <a:gs pos="50000">
              <a:schemeClr val="accent1">
                <a:hueOff val="0"/>
                <a:satOff val="0"/>
                <a:lumOff val="0"/>
                <a:shade val="67500"/>
                <a:satMod val="115000"/>
              </a:schemeClr>
            </a:gs>
            <a:gs pos="100000">
              <a:schemeClr val="accent1">
                <a:hueOff val="0"/>
                <a:satOff val="0"/>
                <a:lumOff val="0"/>
                <a:shade val="100000"/>
                <a:satMod val="115000"/>
              </a:schemeClr>
            </a:gs>
          </a:gsLst>
          <a:path path="circle">
            <a:fillToRect l="50000" t="50000" r="50000" b="50000"/>
          </a:path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Segoe UI Black" panose="020B0A02040204020203" pitchFamily="34" charset="0"/>
              <a:ea typeface="Segoe UI Black" panose="020B0A02040204020203" pitchFamily="34" charset="0"/>
            </a:rPr>
            <a:t>Key Takeaways</a:t>
          </a:r>
          <a:br>
            <a:rPr lang="en-US" sz="1200" kern="1200" dirty="0">
              <a:latin typeface="Segoe UI Black" panose="020B0A02040204020203" pitchFamily="34" charset="0"/>
              <a:ea typeface="Segoe UI Black" panose="020B0A02040204020203" pitchFamily="34" charset="0"/>
            </a:rPr>
          </a:br>
          <a:r>
            <a:rPr lang="en-US" sz="1200" kern="1200" dirty="0">
              <a:latin typeface="Segoe UI Black" panose="020B0A02040204020203" pitchFamily="34" charset="0"/>
              <a:ea typeface="Segoe UI Black" panose="020B0A02040204020203" pitchFamily="34" charset="0"/>
            </a:rPr>
            <a:t>7</a:t>
          </a:r>
        </a:p>
      </dsp:txBody>
      <dsp:txXfrm>
        <a:off x="25445" y="3417296"/>
        <a:ext cx="5222755" cy="470344"/>
      </dsp:txXfrm>
    </dsp:sp>
    <dsp:sp modelId="{409184ED-D3F6-4808-8972-A4B378AC9F77}">
      <dsp:nvSpPr>
        <dsp:cNvPr id="0" name=""/>
        <dsp:cNvSpPr/>
      </dsp:nvSpPr>
      <dsp:spPr>
        <a:xfrm>
          <a:off x="0" y="3947646"/>
          <a:ext cx="5273645" cy="5212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Data Sources &amp; References</a:t>
          </a:r>
          <a:br>
            <a:rPr lang="en-US" sz="1200" kern="12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</a:br>
          <a:r>
            <a:rPr lang="en-US" sz="1200" kern="12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rPr>
            <a:t>8</a:t>
          </a:r>
        </a:p>
      </dsp:txBody>
      <dsp:txXfrm>
        <a:off x="25445" y="3973091"/>
        <a:ext cx="5222755" cy="4703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A803EB-6129-4A01-8168-494E841CCE1A}">
      <dsp:nvSpPr>
        <dsp:cNvPr id="0" name=""/>
        <dsp:cNvSpPr/>
      </dsp:nvSpPr>
      <dsp:spPr>
        <a:xfrm>
          <a:off x="0" y="580724"/>
          <a:ext cx="8444239" cy="437580"/>
        </a:xfrm>
        <a:prstGeom prst="roundRect">
          <a:avLst/>
        </a:prstGeom>
        <a:solidFill>
          <a:schemeClr val="tx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0" kern="1200" dirty="0">
              <a:latin typeface="Segoe UI Black" panose="020B0A02040204020203" pitchFamily="34" charset="0"/>
              <a:ea typeface="Segoe UI Black" panose="020B0A02040204020203" pitchFamily="34" charset="0"/>
            </a:rPr>
            <a:t>U.S. Bureau of Labor Statistics (BLS), Federal Reserve Economic Data (FRED)</a:t>
          </a:r>
        </a:p>
      </dsp:txBody>
      <dsp:txXfrm>
        <a:off x="21361" y="602085"/>
        <a:ext cx="8401517" cy="394858"/>
      </dsp:txXfrm>
    </dsp:sp>
    <dsp:sp modelId="{D9B27EAC-E62D-4C84-B2E8-A5DBB6C969B5}">
      <dsp:nvSpPr>
        <dsp:cNvPr id="0" name=""/>
        <dsp:cNvSpPr/>
      </dsp:nvSpPr>
      <dsp:spPr>
        <a:xfrm>
          <a:off x="0" y="1071111"/>
          <a:ext cx="8444239" cy="437580"/>
        </a:xfrm>
        <a:prstGeom prst="roundRect">
          <a:avLst/>
        </a:prstGeom>
        <a:gradFill flip="none" rotWithShape="0">
          <a:gsLst>
            <a:gs pos="0">
              <a:schemeClr val="accent5">
                <a:lumMod val="75000"/>
                <a:shade val="30000"/>
                <a:satMod val="115000"/>
              </a:schemeClr>
            </a:gs>
            <a:gs pos="50000">
              <a:schemeClr val="accent5">
                <a:lumMod val="75000"/>
                <a:shade val="67500"/>
                <a:satMod val="115000"/>
              </a:schemeClr>
            </a:gs>
            <a:gs pos="100000">
              <a:schemeClr val="accent5">
                <a:lumMod val="75000"/>
                <a:shade val="100000"/>
                <a:satMod val="115000"/>
              </a:schemeClr>
            </a:gs>
          </a:gsLst>
          <a:lin ang="54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baseline="0" dirty="0">
              <a:latin typeface="Segoe UI Black" panose="020B0A02040204020203" pitchFamily="34" charset="0"/>
              <a:ea typeface="Segoe UI Black" panose="020B0A02040204020203" pitchFamily="34" charset="0"/>
            </a:rPr>
            <a:t>Consumer Price Index for </a:t>
          </a:r>
          <a:r>
            <a:rPr lang="en-US" sz="1400" b="0" i="1" kern="1200" baseline="0" dirty="0">
              <a:latin typeface="Segoe UI Black" panose="020B0A02040204020203" pitchFamily="34" charset="0"/>
              <a:ea typeface="Segoe UI Black" panose="020B0A02040204020203" pitchFamily="34" charset="0"/>
            </a:rPr>
            <a:t>Housing</a:t>
          </a:r>
          <a:r>
            <a:rPr lang="en-US" sz="1400" i="1" kern="1200" baseline="0" dirty="0">
              <a:latin typeface="Segoe UI Black" panose="020B0A02040204020203" pitchFamily="34" charset="0"/>
              <a:ea typeface="Segoe UI Black" panose="020B0A02040204020203" pitchFamily="34" charset="0"/>
            </a:rPr>
            <a:t>: San Francisco-Oakland-Hayward (2017-2025)</a:t>
          </a:r>
        </a:p>
      </dsp:txBody>
      <dsp:txXfrm>
        <a:off x="21361" y="1092472"/>
        <a:ext cx="8401517" cy="394858"/>
      </dsp:txXfrm>
    </dsp:sp>
    <dsp:sp modelId="{A3F14549-0F22-47D5-9D69-3AA7716CE649}">
      <dsp:nvSpPr>
        <dsp:cNvPr id="0" name=""/>
        <dsp:cNvSpPr/>
      </dsp:nvSpPr>
      <dsp:spPr>
        <a:xfrm>
          <a:off x="0" y="1557651"/>
          <a:ext cx="8444239" cy="437580"/>
        </a:xfrm>
        <a:prstGeom prst="roundRect">
          <a:avLst/>
        </a:prstGeom>
        <a:gradFill flip="none" rotWithShape="0">
          <a:gsLst>
            <a:gs pos="0">
              <a:schemeClr val="accent5">
                <a:lumMod val="75000"/>
                <a:shade val="30000"/>
                <a:satMod val="115000"/>
              </a:schemeClr>
            </a:gs>
            <a:gs pos="50000">
              <a:schemeClr val="accent5">
                <a:lumMod val="75000"/>
                <a:shade val="67500"/>
                <a:satMod val="115000"/>
              </a:schemeClr>
            </a:gs>
            <a:gs pos="100000">
              <a:schemeClr val="accent5">
                <a:lumMod val="75000"/>
                <a:shade val="100000"/>
                <a:satMod val="115000"/>
              </a:schemeClr>
            </a:gs>
          </a:gsLst>
          <a:lin ang="54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0" kern="1200" dirty="0">
              <a:latin typeface="Segoe UI Black" panose="020B0A02040204020203" pitchFamily="34" charset="0"/>
              <a:ea typeface="Segoe UI Black" panose="020B0A02040204020203" pitchFamily="34" charset="0"/>
            </a:rPr>
            <a:t>Source: </a:t>
          </a:r>
          <a:r>
            <a:rPr lang="en-US" sz="1400" i="1" kern="12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https://fred.stlouisfed.org</a:t>
          </a:r>
          <a:endParaRPr lang="en-US" sz="1600" i="1" kern="1200" dirty="0">
            <a:solidFill>
              <a:schemeClr val="bg1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21361" y="1579012"/>
        <a:ext cx="8401517" cy="394858"/>
      </dsp:txXfrm>
    </dsp:sp>
    <dsp:sp modelId="{89619960-DD65-430B-A5B1-F49E03552622}">
      <dsp:nvSpPr>
        <dsp:cNvPr id="0" name=""/>
        <dsp:cNvSpPr/>
      </dsp:nvSpPr>
      <dsp:spPr>
        <a:xfrm>
          <a:off x="0" y="2044191"/>
          <a:ext cx="8444239" cy="437580"/>
        </a:xfrm>
        <a:prstGeom prst="roundRect">
          <a:avLst/>
        </a:prstGeom>
        <a:solidFill>
          <a:schemeClr val="bg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i="1" kern="1200" dirty="0"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21361" y="2065552"/>
        <a:ext cx="8401517" cy="394858"/>
      </dsp:txXfrm>
    </dsp:sp>
    <dsp:sp modelId="{8ACF6BC3-282F-4F9C-8DAD-47A9AA90839A}">
      <dsp:nvSpPr>
        <dsp:cNvPr id="0" name=""/>
        <dsp:cNvSpPr/>
      </dsp:nvSpPr>
      <dsp:spPr>
        <a:xfrm>
          <a:off x="0" y="2530731"/>
          <a:ext cx="8444239" cy="437580"/>
        </a:xfrm>
        <a:prstGeom prst="roundRect">
          <a:avLst/>
        </a:prstGeom>
        <a:solidFill>
          <a:schemeClr val="tx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0" kern="1200" dirty="0">
              <a:latin typeface="Segoe UI Black" panose="020B0A02040204020203" pitchFamily="34" charset="0"/>
              <a:ea typeface="Segoe UI Black" panose="020B0A02040204020203" pitchFamily="34" charset="0"/>
            </a:rPr>
            <a:t>Zillow Research</a:t>
          </a:r>
        </a:p>
      </dsp:txBody>
      <dsp:txXfrm>
        <a:off x="21361" y="2552092"/>
        <a:ext cx="8401517" cy="394858"/>
      </dsp:txXfrm>
    </dsp:sp>
    <dsp:sp modelId="{D31E896A-01FA-47F0-856F-2CBC31448D66}">
      <dsp:nvSpPr>
        <dsp:cNvPr id="0" name=""/>
        <dsp:cNvSpPr/>
      </dsp:nvSpPr>
      <dsp:spPr>
        <a:xfrm>
          <a:off x="0" y="3017271"/>
          <a:ext cx="8444239" cy="437580"/>
        </a:xfrm>
        <a:prstGeom prst="roundRect">
          <a:avLst/>
        </a:prstGeom>
        <a:gradFill flip="none" rotWithShape="0">
          <a:gsLst>
            <a:gs pos="0">
              <a:schemeClr val="accent5">
                <a:lumMod val="75000"/>
                <a:shade val="30000"/>
                <a:satMod val="115000"/>
              </a:schemeClr>
            </a:gs>
            <a:gs pos="50000">
              <a:schemeClr val="accent5">
                <a:lumMod val="75000"/>
                <a:shade val="67500"/>
                <a:satMod val="115000"/>
              </a:schemeClr>
            </a:gs>
            <a:gs pos="100000">
              <a:schemeClr val="accent5">
                <a:lumMod val="75000"/>
                <a:shade val="100000"/>
                <a:satMod val="115000"/>
              </a:schemeClr>
            </a:gs>
          </a:gsLst>
          <a:lin ang="54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1" kern="1200" dirty="0">
              <a:latin typeface="Segoe UI Black" panose="020B0A02040204020203" pitchFamily="34" charset="0"/>
              <a:ea typeface="Segoe UI Black" panose="020B0A02040204020203" pitchFamily="34" charset="0"/>
            </a:rPr>
            <a:t>Zillow Home Value Index, San Francisco-Oakland-Hayward Metro Area (2017-2025)</a:t>
          </a:r>
        </a:p>
      </dsp:txBody>
      <dsp:txXfrm>
        <a:off x="21361" y="3038632"/>
        <a:ext cx="8401517" cy="394858"/>
      </dsp:txXfrm>
    </dsp:sp>
    <dsp:sp modelId="{D7059ACA-187F-43DE-9EBE-EB179CC55CE9}">
      <dsp:nvSpPr>
        <dsp:cNvPr id="0" name=""/>
        <dsp:cNvSpPr/>
      </dsp:nvSpPr>
      <dsp:spPr>
        <a:xfrm>
          <a:off x="0" y="3503811"/>
          <a:ext cx="8444239" cy="437580"/>
        </a:xfrm>
        <a:prstGeom prst="roundRect">
          <a:avLst/>
        </a:prstGeom>
        <a:gradFill flip="none" rotWithShape="0">
          <a:gsLst>
            <a:gs pos="0">
              <a:schemeClr val="accent5">
                <a:lumMod val="75000"/>
                <a:shade val="30000"/>
                <a:satMod val="115000"/>
              </a:schemeClr>
            </a:gs>
            <a:gs pos="50000">
              <a:schemeClr val="accent5">
                <a:lumMod val="75000"/>
                <a:shade val="67500"/>
                <a:satMod val="115000"/>
              </a:schemeClr>
            </a:gs>
            <a:gs pos="100000">
              <a:schemeClr val="accent5">
                <a:lumMod val="75000"/>
                <a:shade val="100000"/>
                <a:satMod val="115000"/>
              </a:schemeClr>
            </a:gs>
          </a:gsLst>
          <a:lin ang="54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0" kern="1200" dirty="0">
              <a:latin typeface="Segoe UI Black" panose="020B0A02040204020203" pitchFamily="34" charset="0"/>
              <a:ea typeface="Segoe UI Black" panose="020B0A02040204020203" pitchFamily="34" charset="0"/>
            </a:rPr>
            <a:t>Source: </a:t>
          </a:r>
          <a:r>
            <a:rPr lang="en-US" sz="1400" i="1" kern="1200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https://www.Zillow.com/research/data</a:t>
          </a:r>
          <a:endParaRPr lang="en-US" sz="1400" i="1" kern="1200" dirty="0">
            <a:solidFill>
              <a:schemeClr val="bg1"/>
            </a:solidFill>
            <a:latin typeface="Segoe UI Black" panose="020B0A02040204020203" pitchFamily="34" charset="0"/>
            <a:ea typeface="Segoe UI Black" panose="020B0A02040204020203" pitchFamily="34" charset="0"/>
          </a:endParaRPr>
        </a:p>
      </dsp:txBody>
      <dsp:txXfrm>
        <a:off x="21361" y="3525172"/>
        <a:ext cx="8401517" cy="3948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0862" y="818984"/>
            <a:ext cx="4806470" cy="3268520"/>
          </a:xfrm>
        </p:spPr>
        <p:txBody>
          <a:bodyPr>
            <a:normAutofit/>
          </a:bodyPr>
          <a:lstStyle/>
          <a:p>
            <a:pPr algn="r"/>
            <a:r>
              <a:rPr lang="en-US" sz="4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Bay Area Housing Market Data Modeling </a:t>
            </a:r>
            <a:r>
              <a:rPr lang="en-US" sz="4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Portfolio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8905" y="4797188"/>
            <a:ext cx="4538427" cy="1241828"/>
          </a:xfrm>
        </p:spPr>
        <p:txBody>
          <a:bodyPr>
            <a:normAutofit lnSpcReduction="10000"/>
          </a:bodyPr>
          <a:lstStyle/>
          <a:p>
            <a:pPr algn="r">
              <a:lnSpc>
                <a:spcPct val="90000"/>
              </a:lnSpc>
            </a:pPr>
            <a: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Keean Kawai</a:t>
            </a:r>
          </a:p>
          <a:p>
            <a:pPr algn="r">
              <a:lnSpc>
                <a:spcPct val="90000"/>
              </a:lnSpc>
            </a:pPr>
            <a: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UC Berkeley </a:t>
            </a:r>
          </a:p>
          <a:p>
            <a:pPr algn="r">
              <a:lnSpc>
                <a:spcPct val="90000"/>
              </a:lnSpc>
            </a:pPr>
            <a: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Economics &amp; Data Science Student</a:t>
            </a:r>
          </a:p>
          <a:p>
            <a:pPr algn="r">
              <a:lnSpc>
                <a:spcPct val="90000"/>
              </a:lnSpc>
            </a:pPr>
            <a:r>
              <a:rPr lang="en-US" sz="1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keeankawai@berkeley.edu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5491" y="346038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Aharoni" panose="02010803020104030203" pitchFamily="2" charset="-79"/>
              </a:rPr>
              <a:t>Table of Contents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F8C81C-E562-4D16-F906-A5D111B43831}"/>
              </a:ext>
            </a:extLst>
          </p:cNvPr>
          <p:cNvSpPr txBox="1"/>
          <p:nvPr/>
        </p:nvSpPr>
        <p:spPr>
          <a:xfrm>
            <a:off x="8865224" y="6549440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2</a:t>
            </a: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CB73C8CF-64EE-58EB-B809-30E600E505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9232208"/>
              </p:ext>
            </p:extLst>
          </p:nvPr>
        </p:nvGraphicFramePr>
        <p:xfrm>
          <a:off x="420985" y="1921993"/>
          <a:ext cx="5273645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ouses in a subdivision">
            <a:extLst>
              <a:ext uri="{FF2B5EF4-FFF2-40B4-BE49-F238E27FC236}">
                <a16:creationId xmlns:a16="http://schemas.microsoft.com/office/drawing/2014/main" id="{847CD6F5-7F91-66EB-024C-21B534DD7B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272" r="24234" b="-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363348"/>
            <a:ext cx="4098726" cy="15593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Bay Area Housing Market Data Modeling |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5511" y="1644371"/>
            <a:ext cx="4830624" cy="4999753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Timeline: June 2025 – July 2025</a:t>
            </a:r>
          </a:p>
          <a:p>
            <a:pPr>
              <a:lnSpc>
                <a:spcPct val="90000"/>
              </a:lnSpc>
            </a:pP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Context:</a:t>
            </a:r>
          </a:p>
          <a:p>
            <a:pPr>
              <a:lnSpc>
                <a:spcPct val="9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Housing affordability crisis in the Bay Area; need to quantify relationship between </a:t>
            </a: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housing CPI (</a:t>
            </a:r>
            <a:r>
              <a:rPr lang="en-US" sz="11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FRED, BLS</a:t>
            </a: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) 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and </a:t>
            </a: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average home values (</a:t>
            </a:r>
            <a:r>
              <a:rPr lang="en-US" sz="11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Zillow</a:t>
            </a: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)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Objectives:</a:t>
            </a:r>
          </a:p>
          <a:p>
            <a:pPr>
              <a:lnSpc>
                <a:spcPct val="9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Test whether CPI housing index movements explain changes in home values. </a:t>
            </a:r>
          </a:p>
          <a:p>
            <a:pPr>
              <a:lnSpc>
                <a:spcPct val="9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Estimate elasticity to see if housing prices react more than proportionally to cost-of-living pressures.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Methods:</a:t>
            </a:r>
          </a:p>
          <a:p>
            <a:pPr>
              <a:lnSpc>
                <a:spcPct val="90000"/>
              </a:lnSpc>
            </a:pPr>
            <a: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Data Sources: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FRED (CPI Housing Index, 2017–2025), Zillow (Avg. Home Values, 2017–2025). </a:t>
            </a:r>
          </a:p>
          <a:p>
            <a:pPr>
              <a:lnSpc>
                <a:spcPct val="9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Analytical techniques (Data cleaning, Excel-based modeling, log-log regression, visualization.) 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• Built Excel-based datasets, cleaned and merged cross-source observations.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• Conducted regression and elasticity analysis to estimate the responsiveness of home values to CPI fluctuations.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•  Applied supply &amp; demand theory, affordability models, and market benchmarking to interpret results.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003226-EF57-8B82-1357-DE144E0C7893}"/>
              </a:ext>
            </a:extLst>
          </p:cNvPr>
          <p:cNvSpPr txBox="1"/>
          <p:nvPr/>
        </p:nvSpPr>
        <p:spPr>
          <a:xfrm>
            <a:off x="8865224" y="6549440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232"/>
            <a:ext cx="8229600" cy="1143000"/>
          </a:xfrm>
        </p:spPr>
        <p:txBody>
          <a:bodyPr>
            <a:normAutofit/>
          </a:bodyPr>
          <a:lstStyle/>
          <a:p>
            <a:r>
              <a:rPr sz="28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Bay Area Housing Market Data Modeling | Key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2948" y="2708211"/>
            <a:ext cx="3339762" cy="26068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•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CPI Housing Index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(</a:t>
            </a:r>
            <a:r>
              <a:rPr lang="en-US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FRED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):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327 → 409 (+25%)</a:t>
            </a:r>
          </a:p>
          <a:p>
            <a:pPr marL="0" indent="0">
              <a:buNone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marL="0" indent="0">
              <a:buNone/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•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Average Home Value (</a:t>
            </a:r>
            <a:r>
              <a:rPr lang="en-US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Zillow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):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$820k → $1.14M (+39%)</a:t>
            </a:r>
          </a:p>
          <a:p>
            <a:pPr marL="0" indent="0">
              <a:buNone/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•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Observation: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Home values rose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faster than CPI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, suggesting elasticity &gt; 1.</a:t>
            </a:r>
            <a:endParaRPr sz="16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5BF0CFE-AA8A-CC85-3433-7AA0D32564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265184"/>
              </p:ext>
            </p:extLst>
          </p:nvPr>
        </p:nvGraphicFramePr>
        <p:xfrm>
          <a:off x="254252" y="4046100"/>
          <a:ext cx="5114454" cy="2537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3319463-458D-43F0-7976-C2351ACC75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7226746"/>
              </p:ext>
            </p:extLst>
          </p:nvPr>
        </p:nvGraphicFramePr>
        <p:xfrm>
          <a:off x="254253" y="1303521"/>
          <a:ext cx="5114453" cy="26068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59EF5F1-4F85-B366-83C8-F475361E7B91}"/>
              </a:ext>
            </a:extLst>
          </p:cNvPr>
          <p:cNvSpPr txBox="1"/>
          <p:nvPr/>
        </p:nvSpPr>
        <p:spPr>
          <a:xfrm>
            <a:off x="8865224" y="6549440"/>
            <a:ext cx="2808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2831" y="144856"/>
            <a:ext cx="3992787" cy="981877"/>
          </a:xfrm>
        </p:spPr>
        <p:txBody>
          <a:bodyPr anchor="b">
            <a:normAutofit fontScale="90000"/>
          </a:bodyPr>
          <a:lstStyle/>
          <a:p>
            <a:r>
              <a:rPr lang="en-US" sz="280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Regression Analysis (Elasticity Estimation)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619" y="1525087"/>
            <a:ext cx="4520455" cy="4669388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Model: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ln(Home Value)=α + β ⋅ ln(CPI) + ϵ</a:t>
            </a: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Outputs: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Estimated coefficient: </a:t>
            </a:r>
            <a:r>
              <a:rPr lang="en-US" sz="18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β = 5.5662</a:t>
            </a:r>
            <a:endParaRPr lang="en-US" sz="1800" i="1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r>
              <a:rPr lang="en-US" sz="1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Constant: </a:t>
            </a:r>
            <a:r>
              <a:rPr lang="en-US" sz="18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-45.719</a:t>
            </a:r>
            <a:endParaRPr lang="en-US" sz="1800" i="1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r>
              <a:rPr lang="en-US" sz="1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R² = </a:t>
            </a:r>
            <a:r>
              <a:rPr lang="en-US" sz="18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0.8242</a:t>
            </a:r>
            <a:r>
              <a:rPr lang="en-US" sz="1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→ model explains </a:t>
            </a:r>
            <a:r>
              <a:rPr lang="en-US" sz="1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~82% of variation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in log(Home Value).</a:t>
            </a:r>
          </a:p>
          <a:p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Interpretation (Elasticity):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1% increase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in the CPI Housing Index is associated with a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5.6% increase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in average home values.</a:t>
            </a:r>
          </a:p>
          <a:p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Strong positive elasticity suggests that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housing demand is highly sensitive to CPI-driven costs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(supply constraints magnify cost pass-through effects).</a:t>
            </a:r>
          </a:p>
          <a:p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E67BA59-4A5E-5990-119A-57C685239A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0332796"/>
              </p:ext>
            </p:extLst>
          </p:nvPr>
        </p:nvGraphicFramePr>
        <p:xfrm>
          <a:off x="5306975" y="909081"/>
          <a:ext cx="3127897" cy="50717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DEF4932-AE0E-905A-1AC0-52EA20378CF7}"/>
              </a:ext>
            </a:extLst>
          </p:cNvPr>
          <p:cNvSpPr txBox="1"/>
          <p:nvPr/>
        </p:nvSpPr>
        <p:spPr>
          <a:xfrm>
            <a:off x="8865224" y="6549440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635EBC-C9D0-8475-695B-5BEBBF557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C84A9C-AB47-42B9-602C-ABC5E0214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23" y="586855"/>
            <a:ext cx="2756716" cy="3387497"/>
          </a:xfrm>
        </p:spPr>
        <p:txBody>
          <a:bodyPr anchor="b">
            <a:normAutofit/>
          </a:bodyPr>
          <a:lstStyle/>
          <a:p>
            <a:pPr algn="l"/>
            <a:r>
              <a:rPr lang="en-US" sz="2500" dirty="0">
                <a:solidFill>
                  <a:srgbClr val="FFFFFF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Economic Theory Insights | Strategic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23189-3D19-4BDE-086C-663C6C45B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6784" y="911157"/>
            <a:ext cx="4916510" cy="5546047"/>
          </a:xfrm>
        </p:spPr>
        <p:txBody>
          <a:bodyPr anchor="ctr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Supply-Side Constraints (Internal Market Dynamics)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Inelastic Housing Supply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 Land scarcity, zoning restrictions, and high construction costs limit new housing stock.</a:t>
            </a:r>
          </a:p>
          <a:p>
            <a:pPr>
              <a:lnSpc>
                <a:spcPct val="9000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Elasticity Implication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 CPI cost shocks (materials, rent components) disproportionately raise home values, as supply cannot absorb demand.</a:t>
            </a:r>
          </a:p>
          <a:p>
            <a:pPr>
              <a:lnSpc>
                <a:spcPct val="9000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Consulting Lens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 Comparable to a firm with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capacity bottlenecks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as costs pass through directly to consumer prices.</a:t>
            </a:r>
          </a:p>
          <a:p>
            <a:pPr>
              <a:lnSpc>
                <a:spcPct val="90000"/>
              </a:lnSpc>
            </a:pP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Demand-Side Pressures (Consumer Behavior)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Income vs. CPI Gap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 Household income growth trails CPI increases, worsening affordability ratios.</a:t>
            </a:r>
          </a:p>
          <a:p>
            <a:pPr>
              <a:lnSpc>
                <a:spcPct val="9000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Consumer Segmentation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 Higher-income households absorb cost increases, but middle/lower-income households are priced out.</a:t>
            </a:r>
          </a:p>
          <a:p>
            <a:pPr>
              <a:lnSpc>
                <a:spcPct val="9000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Consulting Lens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 Shifts in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customer segments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resemble a firm losing mid-market buyers while retaining only premium consumers.</a:t>
            </a:r>
          </a:p>
          <a:p>
            <a:pPr>
              <a:lnSpc>
                <a:spcPct val="90000"/>
              </a:lnSpc>
            </a:pP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Competitive Benchmarking (External Market Dynamics)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San Francisco vs. Peer Metros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 Compared to LA, Seattle, or Austin, SF housing values show higher CPI elasticity due to tighter supply.</a:t>
            </a:r>
          </a:p>
          <a:p>
            <a:pPr>
              <a:lnSpc>
                <a:spcPct val="9000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Market Entry Barriers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 High cost of entry (land, permits) prevents “competitor” housing supply from entering.</a:t>
            </a:r>
          </a:p>
          <a:p>
            <a:pPr>
              <a:lnSpc>
                <a:spcPct val="9000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Consulting Lens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 Analogous to a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monopoly/oligopoly market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, where incumbent barriers protect high margins but reduce inclusivity.</a:t>
            </a:r>
          </a:p>
          <a:p>
            <a:pPr>
              <a:lnSpc>
                <a:spcPct val="90000"/>
              </a:lnSpc>
            </a:pP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Profitability &amp; Investment Implications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Developers’ Profitability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 Rising CPI raises both input costs and potential selling prices; margins depend on ability to pass costs through.</a:t>
            </a:r>
          </a:p>
          <a:p>
            <a:pPr>
              <a:lnSpc>
                <a:spcPct val="9000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Policy/Regulation Risk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 Rent control or affordability mandates could compress margins as a “regulatory competitor” in the market.</a:t>
            </a:r>
          </a:p>
          <a:p>
            <a:pPr>
              <a:lnSpc>
                <a:spcPct val="90000"/>
              </a:lnSpc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Consulting Lens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 Mirrors a firm in a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high-margin but high-regulation industry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(like utilities or pharmaceuticals).</a:t>
            </a:r>
          </a:p>
          <a:p>
            <a:pPr>
              <a:lnSpc>
                <a:spcPct val="90000"/>
              </a:lnSpc>
            </a:pP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Strategic Takeaways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CPI shocks act as a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profit driver for developers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, but a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cost burden for consumers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Housing affordability crisis reflects a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misalignment of supply chain constraints with consumer demand elasticity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Any solution requires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dual levers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•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Internal (supply-side reform):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Incentivize new housing stock, streamline construction, reduce input costs.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•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External (market-facing strategy):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Policy reforms, subsidies, or zoning changes to rebalance affordability.</a:t>
            </a:r>
          </a:p>
          <a:p>
            <a:pPr>
              <a:lnSpc>
                <a:spcPct val="90000"/>
              </a:lnSpc>
            </a:pP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</a:pP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</a:pP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C450ED-5686-3F35-9899-63DC7C4B9853}"/>
              </a:ext>
            </a:extLst>
          </p:cNvPr>
          <p:cNvSpPr txBox="1"/>
          <p:nvPr/>
        </p:nvSpPr>
        <p:spPr>
          <a:xfrm>
            <a:off x="8865224" y="6549440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49925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Bay Area Housing Market Data Modeling |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5374" y="2458465"/>
            <a:ext cx="7733247" cy="3683358"/>
          </a:xfrm>
        </p:spPr>
        <p:txBody>
          <a:bodyPr anchor="ctr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1. Elasticity Signals Market Fragility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Regression coefficient (~5.6) highlights how </a:t>
            </a:r>
            <a:r>
              <a:rPr 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small CPI shocks produce outsized price effects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, confirming systemic volatility.</a:t>
            </a:r>
          </a:p>
          <a:p>
            <a:pPr>
              <a:lnSpc>
                <a:spcPct val="9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High R² (0.82) indicates </a:t>
            </a:r>
            <a:r>
              <a:rPr 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structural consistency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across time, reinforcing reliability of the model.</a:t>
            </a:r>
          </a:p>
          <a:p>
            <a:pPr>
              <a:lnSpc>
                <a:spcPct val="90000"/>
              </a:lnSpc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2. Risk Landscape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Macro Risks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 Inflationary shocks and interest rate hikes amplify affordability stress.</a:t>
            </a:r>
          </a:p>
          <a:p>
            <a:pPr>
              <a:lnSpc>
                <a:spcPct val="90000"/>
              </a:lnSpc>
            </a:pPr>
            <a:r>
              <a:rPr 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Micro Risks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 Local dependence on tech-sector wages → income volatility tied to cyclical employment.</a:t>
            </a:r>
          </a:p>
          <a:p>
            <a:pPr>
              <a:lnSpc>
                <a:spcPct val="90000"/>
              </a:lnSpc>
            </a:pPr>
            <a:r>
              <a:rPr 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Regulatory Risks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 Future policy interventions could abruptly shift profitability dynamics.</a:t>
            </a:r>
          </a:p>
          <a:p>
            <a:pPr>
              <a:lnSpc>
                <a:spcPct val="90000"/>
              </a:lnSpc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3. Strategic Opportunities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For Policymakers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 Targeted interventions (zoning flexibility, modular housing adoption) can smooth CPI sensitivity.</a:t>
            </a:r>
          </a:p>
          <a:p>
            <a:pPr>
              <a:lnSpc>
                <a:spcPct val="90000"/>
              </a:lnSpc>
            </a:pPr>
            <a:r>
              <a:rPr 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For Developers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 Long-term opportunity in </a:t>
            </a:r>
            <a:r>
              <a:rPr 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mid-tier housing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where unmet demand is structurally locked out.</a:t>
            </a:r>
          </a:p>
          <a:p>
            <a:pPr>
              <a:lnSpc>
                <a:spcPct val="90000"/>
              </a:lnSpc>
            </a:pPr>
            <a:r>
              <a:rPr 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For Investors/Consultants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 Case parallels </a:t>
            </a:r>
            <a:r>
              <a:rPr 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capacity-constrained industries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like airlines or energy opportunities exist, but only with careful risk hedging.</a:t>
            </a:r>
          </a:p>
          <a:p>
            <a:pPr>
              <a:lnSpc>
                <a:spcPct val="90000"/>
              </a:lnSpc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4. </a:t>
            </a:r>
            <a:r>
              <a:rPr 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Broader Economic Insight</a:t>
            </a:r>
            <a:endParaRPr lang="en-US" sz="1200" i="1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The Bay Area housing market functions as a </a:t>
            </a:r>
            <a:r>
              <a:rPr 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two-sided constraint problem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: CPI-driven input costs push from above while stagnant income growth pushes from below.</a:t>
            </a:r>
          </a:p>
          <a:p>
            <a:pPr>
              <a:lnSpc>
                <a:spcPct val="9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Result: A </a:t>
            </a:r>
            <a:r>
              <a:rPr lang="en-US" sz="12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barbell effect</a:t>
            </a:r>
            <a:r>
              <a:rPr 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where premium consumers dominate and affordability gaps widen.</a:t>
            </a:r>
          </a:p>
          <a:p>
            <a:pPr>
              <a:lnSpc>
                <a:spcPct val="90000"/>
              </a:lnSpc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A11313-567D-4021-3FAB-0B6646B6B25B}"/>
              </a:ext>
            </a:extLst>
          </p:cNvPr>
          <p:cNvSpPr txBox="1"/>
          <p:nvPr/>
        </p:nvSpPr>
        <p:spPr>
          <a:xfrm>
            <a:off x="8865224" y="6549440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C7A067-B974-316E-A1B2-DFBCD1450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120331B-7241-1B72-3106-25DC484B7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EF2DFE-BCCE-0227-8CAA-0490C9EB3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548EB6-6531-12C8-AAA7-43375962E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B69123-8AE7-3BC8-52EB-34D4D4E42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FA767-B6E6-9316-AF5C-89DFAD10A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491" y="346038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Aharoni" panose="02010803020104030203" pitchFamily="2" charset="-79"/>
              </a:rPr>
              <a:t>Data Sources &amp; References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E73FF1-60CD-028F-684F-566D078D3343}"/>
              </a:ext>
            </a:extLst>
          </p:cNvPr>
          <p:cNvSpPr txBox="1"/>
          <p:nvPr/>
        </p:nvSpPr>
        <p:spPr>
          <a:xfrm>
            <a:off x="8865224" y="6549440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8</a:t>
            </a: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386F6022-E308-D065-4D53-AC892B3C88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0479314"/>
              </p:ext>
            </p:extLst>
          </p:nvPr>
        </p:nvGraphicFramePr>
        <p:xfrm>
          <a:off x="420985" y="1921993"/>
          <a:ext cx="8444239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5295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1084</Words>
  <Application>Microsoft Office PowerPoint</Application>
  <PresentationFormat>On-screen Show (4:3)</PresentationFormat>
  <Paragraphs>118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Segoe UI Black</vt:lpstr>
      <vt:lpstr>Office Theme</vt:lpstr>
      <vt:lpstr>Bay Area Housing Market Data Modeling Portfolio</vt:lpstr>
      <vt:lpstr>Table of Contents</vt:lpstr>
      <vt:lpstr>Bay Area Housing Market Data Modeling | Overview</vt:lpstr>
      <vt:lpstr>Bay Area Housing Market Data Modeling | Key Analysis</vt:lpstr>
      <vt:lpstr>Regression Analysis (Elasticity Estimation)</vt:lpstr>
      <vt:lpstr>Economic Theory Insights | Strategic Implications</vt:lpstr>
      <vt:lpstr>Bay Area Housing Market Data Modeling | Key Takeaways</vt:lpstr>
      <vt:lpstr>Data Sources &amp;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Keean Kawai</cp:lastModifiedBy>
  <cp:revision>4</cp:revision>
  <dcterms:created xsi:type="dcterms:W3CDTF">2013-01-27T09:14:16Z</dcterms:created>
  <dcterms:modified xsi:type="dcterms:W3CDTF">2026-01-01T02:12:58Z</dcterms:modified>
  <cp:category/>
</cp:coreProperties>
</file>